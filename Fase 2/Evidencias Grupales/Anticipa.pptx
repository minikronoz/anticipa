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Canva Sans" charset="1" panose="020B0503030501040103"/>
      <p:regular r:id="rId20"/>
    </p:embeddedFont>
    <p:embeddedFont>
      <p:font typeface="Poppins Medium" charset="1" panose="00000600000000000000"/>
      <p:regular r:id="rId21"/>
    </p:embeddedFont>
    <p:embeddedFont>
      <p:font typeface="Anton" charset="1" panose="00000500000000000000"/>
      <p:regular r:id="rId22"/>
    </p:embeddedFont>
    <p:embeddedFont>
      <p:font typeface="Helios Extended Bold" charset="1" panose="020008050500000200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3.png" Type="http://schemas.openxmlformats.org/officeDocument/2006/relationships/image"/><Relationship Id="rId7" Target="../media/image16.png" Type="http://schemas.openxmlformats.org/officeDocument/2006/relationships/image"/><Relationship Id="rId8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.pn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.pn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3.png" Type="http://schemas.openxmlformats.org/officeDocument/2006/relationships/image"/><Relationship Id="rId4" Target="../embeddings/oleObject1.bin" Type="http://schemas.openxmlformats.org/officeDocument/2006/relationships/oleObject"/><Relationship Id="rId5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.png" Type="http://schemas.openxmlformats.org/officeDocument/2006/relationships/image"/><Relationship Id="rId4" Target="../media/image3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.png" Type="http://schemas.openxmlformats.org/officeDocument/2006/relationships/image"/><Relationship Id="rId4" Target="../media/image3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.png" Type="http://schemas.openxmlformats.org/officeDocument/2006/relationships/image"/><Relationship Id="rId4" Target="../media/image36.png" Type="http://schemas.openxmlformats.org/officeDocument/2006/relationships/image"/><Relationship Id="rId5" Target="../embeddings/oleObject2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.png" Type="http://schemas.openxmlformats.org/officeDocument/2006/relationships/image"/><Relationship Id="rId4" Target="../media/image3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.png" Type="http://schemas.openxmlformats.org/officeDocument/2006/relationships/image"/><Relationship Id="rId4" Target="../media/image3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.pn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.pn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3730205"/>
            <a:ext cx="18502431" cy="2826589"/>
            <a:chOff x="0" y="0"/>
            <a:chExt cx="4873068" cy="744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73068" cy="744451"/>
            </a:xfrm>
            <a:custGeom>
              <a:avLst/>
              <a:gdLst/>
              <a:ahLst/>
              <a:cxnLst/>
              <a:rect r="r" b="b" t="t" l="l"/>
              <a:pathLst>
                <a:path h="744451" w="4873068">
                  <a:moveTo>
                    <a:pt x="0" y="0"/>
                  </a:moveTo>
                  <a:lnTo>
                    <a:pt x="4873068" y="0"/>
                  </a:lnTo>
                  <a:lnTo>
                    <a:pt x="4873068" y="744451"/>
                  </a:lnTo>
                  <a:lnTo>
                    <a:pt x="0" y="744451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41000"/>
                  </a:srgbClr>
                </a:gs>
                <a:gs pos="50000">
                  <a:srgbClr val="0F2949">
                    <a:alpha val="0"/>
                  </a:srgbClr>
                </a:gs>
                <a:gs pos="100000">
                  <a:srgbClr val="328D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73068" cy="78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189751" y="1779688"/>
            <a:ext cx="5858558" cy="7478612"/>
          </a:xfrm>
          <a:custGeom>
            <a:avLst/>
            <a:gdLst/>
            <a:ahLst/>
            <a:cxnLst/>
            <a:rect r="r" b="b" t="t" l="l"/>
            <a:pathLst>
              <a:path h="7478612" w="5858558">
                <a:moveTo>
                  <a:pt x="0" y="0"/>
                </a:moveTo>
                <a:lnTo>
                  <a:pt x="5858557" y="0"/>
                </a:lnTo>
                <a:lnTo>
                  <a:pt x="5858557" y="7478612"/>
                </a:lnTo>
                <a:lnTo>
                  <a:pt x="0" y="74786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412" t="0" r="-1324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785541" y="0"/>
            <a:ext cx="5502459" cy="1779688"/>
          </a:xfrm>
          <a:custGeom>
            <a:avLst/>
            <a:gdLst/>
            <a:ahLst/>
            <a:cxnLst/>
            <a:rect r="r" b="b" t="t" l="l"/>
            <a:pathLst>
              <a:path h="1779688" w="5502459">
                <a:moveTo>
                  <a:pt x="0" y="0"/>
                </a:moveTo>
                <a:lnTo>
                  <a:pt x="5502459" y="0"/>
                </a:lnTo>
                <a:lnTo>
                  <a:pt x="5502459" y="1779688"/>
                </a:lnTo>
                <a:lnTo>
                  <a:pt x="0" y="17796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71" t="0" r="-261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1259" y="8240395"/>
            <a:ext cx="6357025" cy="217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Asignatura:  Capstone</a:t>
            </a:r>
          </a:p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Docentes:   JUAN PABLO MELLADO</a:t>
            </a:r>
          </a:p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</a:t>
            </a:r>
            <a:r>
              <a:rPr lang="en-US" sz="2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MABEL ALEJANDRA HERRERA 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Carrera:       Ingeniería en Informática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Fecha:          19 Junio 2026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52450" y="1995627"/>
            <a:ext cx="21069300" cy="6267450"/>
            <a:chOff x="0" y="0"/>
            <a:chExt cx="5549116" cy="16506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49116" cy="1650686"/>
            </a:xfrm>
            <a:custGeom>
              <a:avLst/>
              <a:gdLst/>
              <a:ahLst/>
              <a:cxnLst/>
              <a:rect r="r" b="b" t="t" l="l"/>
              <a:pathLst>
                <a:path h="1650686" w="5549116">
                  <a:moveTo>
                    <a:pt x="0" y="0"/>
                  </a:moveTo>
                  <a:lnTo>
                    <a:pt x="5549116" y="0"/>
                  </a:lnTo>
                  <a:lnTo>
                    <a:pt x="5549116" y="1650686"/>
                  </a:lnTo>
                  <a:lnTo>
                    <a:pt x="0" y="1650686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0"/>
                  </a:srgbClr>
                </a:gs>
                <a:gs pos="100000">
                  <a:srgbClr val="2376D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549116" cy="1688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13141693" y="2507132"/>
            <a:ext cx="5802923" cy="4114800"/>
          </a:xfrm>
          <a:custGeom>
            <a:avLst/>
            <a:gdLst/>
            <a:ahLst/>
            <a:cxnLst/>
            <a:rect r="r" b="b" t="t" l="l"/>
            <a:pathLst>
              <a:path h="4114800" w="5802923">
                <a:moveTo>
                  <a:pt x="5802923" y="0"/>
                </a:moveTo>
                <a:lnTo>
                  <a:pt x="0" y="0"/>
                </a:lnTo>
                <a:lnTo>
                  <a:pt x="0" y="4114800"/>
                </a:lnTo>
                <a:lnTo>
                  <a:pt x="5802923" y="4114800"/>
                </a:lnTo>
                <a:lnTo>
                  <a:pt x="580292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12143" y="2507132"/>
            <a:ext cx="5802923" cy="4114800"/>
          </a:xfrm>
          <a:custGeom>
            <a:avLst/>
            <a:gdLst/>
            <a:ahLst/>
            <a:cxnLst/>
            <a:rect r="r" b="b" t="t" l="l"/>
            <a:pathLst>
              <a:path h="4114800" w="5802923">
                <a:moveTo>
                  <a:pt x="0" y="0"/>
                </a:moveTo>
                <a:lnTo>
                  <a:pt x="5802923" y="0"/>
                </a:lnTo>
                <a:lnTo>
                  <a:pt x="58029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785541" y="0"/>
            <a:ext cx="5502459" cy="1779688"/>
          </a:xfrm>
          <a:custGeom>
            <a:avLst/>
            <a:gdLst/>
            <a:ahLst/>
            <a:cxnLst/>
            <a:rect r="r" b="b" t="t" l="l"/>
            <a:pathLst>
              <a:path h="1779688" w="5502459">
                <a:moveTo>
                  <a:pt x="0" y="0"/>
                </a:moveTo>
                <a:lnTo>
                  <a:pt x="5502459" y="0"/>
                </a:lnTo>
                <a:lnTo>
                  <a:pt x="5502459" y="1779688"/>
                </a:lnTo>
                <a:lnTo>
                  <a:pt x="0" y="17796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1" t="0" r="-261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05460" y="9029768"/>
            <a:ext cx="742179" cy="742179"/>
            <a:chOff x="0" y="0"/>
            <a:chExt cx="195471" cy="1954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471" cy="195471"/>
            </a:xfrm>
            <a:custGeom>
              <a:avLst/>
              <a:gdLst/>
              <a:ahLst/>
              <a:cxnLst/>
              <a:rect r="r" b="b" t="t" l="l"/>
              <a:pathLst>
                <a:path h="195471" w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304154" y="2478789"/>
            <a:ext cx="2549251" cy="3427564"/>
          </a:xfrm>
          <a:custGeom>
            <a:avLst/>
            <a:gdLst/>
            <a:ahLst/>
            <a:cxnLst/>
            <a:rect r="r" b="b" t="t" l="l"/>
            <a:pathLst>
              <a:path h="3427564" w="2549251">
                <a:moveTo>
                  <a:pt x="0" y="0"/>
                </a:moveTo>
                <a:lnTo>
                  <a:pt x="2549250" y="0"/>
                </a:lnTo>
                <a:lnTo>
                  <a:pt x="2549250" y="3427564"/>
                </a:lnTo>
                <a:lnTo>
                  <a:pt x="0" y="34275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319855" y="2619507"/>
            <a:ext cx="2662345" cy="3286846"/>
          </a:xfrm>
          <a:custGeom>
            <a:avLst/>
            <a:gdLst/>
            <a:ahLst/>
            <a:cxnLst/>
            <a:rect r="r" b="b" t="t" l="l"/>
            <a:pathLst>
              <a:path h="3286846" w="2662345">
                <a:moveTo>
                  <a:pt x="0" y="0"/>
                </a:moveTo>
                <a:lnTo>
                  <a:pt x="2662345" y="0"/>
                </a:lnTo>
                <a:lnTo>
                  <a:pt x="2662345" y="3286846"/>
                </a:lnTo>
                <a:lnTo>
                  <a:pt x="0" y="32868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141693" y="2619507"/>
            <a:ext cx="3609870" cy="3166157"/>
          </a:xfrm>
          <a:custGeom>
            <a:avLst/>
            <a:gdLst/>
            <a:ahLst/>
            <a:cxnLst/>
            <a:rect r="r" b="b" t="t" l="l"/>
            <a:pathLst>
              <a:path h="3166157" w="3609870">
                <a:moveTo>
                  <a:pt x="0" y="0"/>
                </a:moveTo>
                <a:lnTo>
                  <a:pt x="3609870" y="0"/>
                </a:lnTo>
                <a:lnTo>
                  <a:pt x="3609870" y="3166157"/>
                </a:lnTo>
                <a:lnTo>
                  <a:pt x="0" y="31661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-1052633" y="370151"/>
            <a:ext cx="8697222" cy="1136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79"/>
              </a:lnSpc>
              <a:spcBef>
                <a:spcPct val="0"/>
              </a:spcBef>
            </a:pPr>
            <a:r>
              <a:rPr lang="en-US" b="true" sz="627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INTEGRANTES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36436" y="6083143"/>
            <a:ext cx="5481880" cy="164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1"/>
              </a:lnSpc>
              <a:spcBef>
                <a:spcPct val="0"/>
              </a:spcBef>
            </a:pPr>
            <a:r>
              <a:rPr lang="en-US" b="true" sz="1943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Agustín Jara Millan</a:t>
            </a:r>
          </a:p>
          <a:p>
            <a:pPr algn="l">
              <a:lnSpc>
                <a:spcPts val="2581"/>
              </a:lnSpc>
              <a:spcBef>
                <a:spcPct val="0"/>
              </a:spcBef>
            </a:pPr>
            <a:r>
              <a:rPr lang="en-US" b="true" sz="1843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Frontend / UI-UX</a:t>
            </a:r>
          </a:p>
          <a:p>
            <a:pPr algn="l" marL="398099" indent="-199050" lvl="1">
              <a:lnSpc>
                <a:spcPts val="258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43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Diseño e implementación de interfaces</a:t>
            </a:r>
          </a:p>
          <a:p>
            <a:pPr algn="l" marL="398099" indent="-199050" lvl="1">
              <a:lnSpc>
                <a:spcPts val="258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43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Desarrollo de pantallas y pictogramas</a:t>
            </a:r>
          </a:p>
          <a:p>
            <a:pPr algn="l" marL="398099" indent="-199050" lvl="1">
              <a:lnSpc>
                <a:spcPts val="258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43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Mejora de usabilidad del sistema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64080" y="6083143"/>
            <a:ext cx="4652533" cy="1970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1"/>
              </a:lnSpc>
              <a:spcBef>
                <a:spcPct val="0"/>
              </a:spcBef>
            </a:pPr>
            <a:r>
              <a:rPr lang="en-US" b="true" sz="1943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Sebastián Solar Aburto</a:t>
            </a:r>
          </a:p>
          <a:p>
            <a:pPr algn="l">
              <a:lnSpc>
                <a:spcPts val="2581"/>
              </a:lnSpc>
              <a:spcBef>
                <a:spcPct val="0"/>
              </a:spcBef>
            </a:pPr>
            <a:r>
              <a:rPr lang="en-US" b="true" sz="1843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Líder de proyecto / Full Stack</a:t>
            </a:r>
          </a:p>
          <a:p>
            <a:pPr algn="l" marL="398099" indent="-199050" lvl="1">
              <a:lnSpc>
                <a:spcPts val="258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43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Coordinación del proyecto</a:t>
            </a:r>
          </a:p>
          <a:p>
            <a:pPr algn="l" marL="398099" indent="-199050" lvl="1">
              <a:lnSpc>
                <a:spcPts val="258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43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Desarrollo backend y base de datos</a:t>
            </a:r>
          </a:p>
          <a:p>
            <a:pPr algn="l" marL="398099" indent="-199050" lvl="1">
              <a:lnSpc>
                <a:spcPts val="258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43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Integración del sistema móvil y web</a:t>
            </a:r>
          </a:p>
          <a:p>
            <a:pPr algn="l">
              <a:lnSpc>
                <a:spcPts val="2581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6429034" y="6083143"/>
            <a:ext cx="5364427" cy="164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1"/>
              </a:lnSpc>
              <a:spcBef>
                <a:spcPct val="0"/>
              </a:spcBef>
            </a:pPr>
            <a:r>
              <a:rPr lang="en-US" b="true" sz="1943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Carlos Catalán Donoso</a:t>
            </a:r>
          </a:p>
          <a:p>
            <a:pPr algn="l">
              <a:lnSpc>
                <a:spcPts val="2581"/>
              </a:lnSpc>
              <a:spcBef>
                <a:spcPct val="0"/>
              </a:spcBef>
            </a:pPr>
            <a:r>
              <a:rPr lang="en-US" b="true" sz="1843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Backend / QA</a:t>
            </a:r>
          </a:p>
          <a:p>
            <a:pPr algn="l" marL="398099" indent="-199050" lvl="1">
              <a:lnSpc>
                <a:spcPts val="258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43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Desarrollo de funcionalidades del sistema</a:t>
            </a:r>
          </a:p>
          <a:p>
            <a:pPr algn="l" marL="398099" indent="-199050" lvl="1">
              <a:lnSpc>
                <a:spcPts val="258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43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Pruebas y detección de errores</a:t>
            </a:r>
          </a:p>
          <a:p>
            <a:pPr algn="l" marL="398099" indent="-199050" lvl="1">
              <a:lnSpc>
                <a:spcPts val="258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43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Soporte y optimización del sistema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1728" y="9182100"/>
            <a:ext cx="724851" cy="45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b="true" sz="247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05460" y="9029768"/>
            <a:ext cx="742179" cy="742179"/>
            <a:chOff x="0" y="0"/>
            <a:chExt cx="195471" cy="19547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5471" cy="195471"/>
            </a:xfrm>
            <a:custGeom>
              <a:avLst/>
              <a:gdLst/>
              <a:ahLst/>
              <a:cxnLst/>
              <a:rect r="r" b="b" t="t" l="l"/>
              <a:pathLst>
                <a:path h="195471" w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04154" y="2147354"/>
            <a:ext cx="9538208" cy="2758393"/>
            <a:chOff x="0" y="0"/>
            <a:chExt cx="2304219" cy="6663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04219" cy="666366"/>
            </a:xfrm>
            <a:custGeom>
              <a:avLst/>
              <a:gdLst/>
              <a:ahLst/>
              <a:cxnLst/>
              <a:rect r="r" b="b" t="t" l="l"/>
              <a:pathLst>
                <a:path h="666366" w="2304219">
                  <a:moveTo>
                    <a:pt x="0" y="0"/>
                  </a:moveTo>
                  <a:lnTo>
                    <a:pt x="2304219" y="0"/>
                  </a:lnTo>
                  <a:lnTo>
                    <a:pt x="2304219" y="666366"/>
                  </a:lnTo>
                  <a:lnTo>
                    <a:pt x="0" y="666366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41000"/>
                  </a:srgbClr>
                </a:gs>
                <a:gs pos="50000">
                  <a:srgbClr val="0F2949">
                    <a:alpha val="0"/>
                  </a:srgbClr>
                </a:gs>
                <a:gs pos="100000">
                  <a:srgbClr val="328D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304219" cy="704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04154" y="6136539"/>
            <a:ext cx="9538208" cy="2832397"/>
            <a:chOff x="0" y="0"/>
            <a:chExt cx="2304219" cy="6842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04219" cy="684244"/>
            </a:xfrm>
            <a:custGeom>
              <a:avLst/>
              <a:gdLst/>
              <a:ahLst/>
              <a:cxnLst/>
              <a:rect r="r" b="b" t="t" l="l"/>
              <a:pathLst>
                <a:path h="684244" w="2304219">
                  <a:moveTo>
                    <a:pt x="0" y="0"/>
                  </a:moveTo>
                  <a:lnTo>
                    <a:pt x="2304219" y="0"/>
                  </a:lnTo>
                  <a:lnTo>
                    <a:pt x="2304219" y="684244"/>
                  </a:lnTo>
                  <a:lnTo>
                    <a:pt x="0" y="684244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41000"/>
                  </a:srgbClr>
                </a:gs>
                <a:gs pos="50000">
                  <a:srgbClr val="0F2949">
                    <a:alpha val="0"/>
                  </a:srgbClr>
                </a:gs>
                <a:gs pos="100000">
                  <a:srgbClr val="328D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304219" cy="7223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842362" y="3339148"/>
            <a:ext cx="7561635" cy="2940889"/>
            <a:chOff x="0" y="0"/>
            <a:chExt cx="1991542" cy="7745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91542" cy="774555"/>
            </a:xfrm>
            <a:custGeom>
              <a:avLst/>
              <a:gdLst/>
              <a:ahLst/>
              <a:cxnLst/>
              <a:rect r="r" b="b" t="t" l="l"/>
              <a:pathLst>
                <a:path h="774555" w="1991542">
                  <a:moveTo>
                    <a:pt x="0" y="0"/>
                  </a:moveTo>
                  <a:lnTo>
                    <a:pt x="1991542" y="0"/>
                  </a:lnTo>
                  <a:lnTo>
                    <a:pt x="1991542" y="774555"/>
                  </a:lnTo>
                  <a:lnTo>
                    <a:pt x="0" y="774555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50000">
                  <a:srgbClr val="000000">
                    <a:alpha val="41000"/>
                  </a:srgbClr>
                </a:gs>
                <a:gs pos="100000">
                  <a:srgbClr val="000000">
                    <a:alpha val="41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91542" cy="812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5250529" y="7143262"/>
            <a:ext cx="4017541" cy="4114800"/>
          </a:xfrm>
          <a:custGeom>
            <a:avLst/>
            <a:gdLst/>
            <a:ahLst/>
            <a:cxnLst/>
            <a:rect r="r" b="b" t="t" l="l"/>
            <a:pathLst>
              <a:path h="4114800" w="4017541">
                <a:moveTo>
                  <a:pt x="0" y="0"/>
                </a:moveTo>
                <a:lnTo>
                  <a:pt x="4017542" y="0"/>
                </a:lnTo>
                <a:lnTo>
                  <a:pt x="40175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347640" y="1405672"/>
            <a:ext cx="546407" cy="345440"/>
            <a:chOff x="0" y="0"/>
            <a:chExt cx="143910" cy="909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3910" cy="90980"/>
            </a:xfrm>
            <a:custGeom>
              <a:avLst/>
              <a:gdLst/>
              <a:ahLst/>
              <a:cxnLst/>
              <a:rect r="r" b="b" t="t" l="l"/>
              <a:pathLst>
                <a:path h="90980" w="143910">
                  <a:moveTo>
                    <a:pt x="0" y="0"/>
                  </a:moveTo>
                  <a:lnTo>
                    <a:pt x="143910" y="0"/>
                  </a:lnTo>
                  <a:lnTo>
                    <a:pt x="143910" y="90980"/>
                  </a:lnTo>
                  <a:lnTo>
                    <a:pt x="0" y="90980"/>
                  </a:lnTo>
                  <a:close/>
                </a:path>
              </a:pathLst>
            </a:custGeom>
            <a:solidFill>
              <a:srgbClr val="006CC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14300"/>
              <a:ext cx="143910" cy="205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699280" y="2334415"/>
            <a:ext cx="9089798" cy="320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Los niños con Necesidades Educativas Especiales presentan dificultades para comprender y anticipar sus rutinas diarias, especialmente cuando la información se entrega en formato textual.</a:t>
            </a:r>
          </a:p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Esto genera ansiedad, desregulación emocional y dificultades en la adaptación a cambios.</a:t>
            </a:r>
          </a:p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1375555" y="5199224"/>
            <a:ext cx="530864" cy="345440"/>
            <a:chOff x="0" y="0"/>
            <a:chExt cx="139816" cy="909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9816" cy="90980"/>
            </a:xfrm>
            <a:custGeom>
              <a:avLst/>
              <a:gdLst/>
              <a:ahLst/>
              <a:cxnLst/>
              <a:rect r="r" b="b" t="t" l="l"/>
              <a:pathLst>
                <a:path h="90980" w="139816">
                  <a:moveTo>
                    <a:pt x="0" y="0"/>
                  </a:moveTo>
                  <a:lnTo>
                    <a:pt x="139816" y="0"/>
                  </a:lnTo>
                  <a:lnTo>
                    <a:pt x="139816" y="90980"/>
                  </a:lnTo>
                  <a:lnTo>
                    <a:pt x="0" y="90980"/>
                  </a:lnTo>
                  <a:close/>
                </a:path>
              </a:pathLst>
            </a:custGeom>
            <a:solidFill>
              <a:srgbClr val="006CC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14300"/>
              <a:ext cx="139816" cy="205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5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0909500" y="1469480"/>
            <a:ext cx="1808903" cy="3739335"/>
          </a:xfrm>
          <a:custGeom>
            <a:avLst/>
            <a:gdLst/>
            <a:ahLst/>
            <a:cxnLst/>
            <a:rect r="r" b="b" t="t" l="l"/>
            <a:pathLst>
              <a:path h="3739335" w="1808903">
                <a:moveTo>
                  <a:pt x="0" y="0"/>
                </a:moveTo>
                <a:lnTo>
                  <a:pt x="1808903" y="0"/>
                </a:lnTo>
                <a:lnTo>
                  <a:pt x="1808903" y="3739335"/>
                </a:lnTo>
                <a:lnTo>
                  <a:pt x="0" y="37393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785541" y="0"/>
            <a:ext cx="5502459" cy="1779688"/>
          </a:xfrm>
          <a:custGeom>
            <a:avLst/>
            <a:gdLst/>
            <a:ahLst/>
            <a:cxnLst/>
            <a:rect r="r" b="b" t="t" l="l"/>
            <a:pathLst>
              <a:path h="1779688" w="5502459">
                <a:moveTo>
                  <a:pt x="0" y="0"/>
                </a:moveTo>
                <a:lnTo>
                  <a:pt x="5502459" y="0"/>
                </a:lnTo>
                <a:lnTo>
                  <a:pt x="5502459" y="1779688"/>
                </a:lnTo>
                <a:lnTo>
                  <a:pt x="0" y="17796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71" t="0" r="-261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568478" y="5758136"/>
            <a:ext cx="2024322" cy="3271632"/>
          </a:xfrm>
          <a:custGeom>
            <a:avLst/>
            <a:gdLst/>
            <a:ahLst/>
            <a:cxnLst/>
            <a:rect r="r" b="b" t="t" l="l"/>
            <a:pathLst>
              <a:path h="3271632" w="2024322">
                <a:moveTo>
                  <a:pt x="0" y="0"/>
                </a:moveTo>
                <a:lnTo>
                  <a:pt x="2024322" y="0"/>
                </a:lnTo>
                <a:lnTo>
                  <a:pt x="2024322" y="3271632"/>
                </a:lnTo>
                <a:lnTo>
                  <a:pt x="0" y="32716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941728" y="9182100"/>
            <a:ext cx="724851" cy="45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b="true" sz="247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99280" y="6482124"/>
            <a:ext cx="8549747" cy="228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Desarrollar una aplicación móvil basada en pictogramas que permita organizar y anticipar rutinas de forma visual, facilitando la comprensión y reduciendo la ansiedad en los niños en su vida escolar y cotidiana.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346451" y="1204908"/>
            <a:ext cx="3332118" cy="942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79"/>
              </a:lnSpc>
              <a:spcBef>
                <a:spcPct val="0"/>
              </a:spcBef>
            </a:pPr>
            <a:r>
              <a:rPr lang="en-US" b="true" sz="527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Problema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345956" y="5032167"/>
            <a:ext cx="4303509" cy="942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79"/>
              </a:lnSpc>
              <a:spcBef>
                <a:spcPct val="0"/>
              </a:spcBef>
            </a:pPr>
            <a:r>
              <a:rPr lang="en-US" b="true" sz="527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Solución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4094435" y="3223842"/>
            <a:ext cx="2635126" cy="3363812"/>
          </a:xfrm>
          <a:custGeom>
            <a:avLst/>
            <a:gdLst/>
            <a:ahLst/>
            <a:cxnLst/>
            <a:rect r="r" b="b" t="t" l="l"/>
            <a:pathLst>
              <a:path h="3363812" w="2635126">
                <a:moveTo>
                  <a:pt x="0" y="0"/>
                </a:moveTo>
                <a:lnTo>
                  <a:pt x="2635127" y="0"/>
                </a:lnTo>
                <a:lnTo>
                  <a:pt x="2635127" y="3363812"/>
                </a:lnTo>
                <a:lnTo>
                  <a:pt x="0" y="33638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4412" t="0" r="-1324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05460" y="9029768"/>
            <a:ext cx="742179" cy="742179"/>
            <a:chOff x="0" y="0"/>
            <a:chExt cx="195471" cy="19547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5471" cy="195471"/>
            </a:xfrm>
            <a:custGeom>
              <a:avLst/>
              <a:gdLst/>
              <a:ahLst/>
              <a:cxnLst/>
              <a:rect r="r" b="b" t="t" l="l"/>
              <a:pathLst>
                <a:path h="195471" w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52450" y="1995627"/>
            <a:ext cx="21069300" cy="3026326"/>
            <a:chOff x="0" y="0"/>
            <a:chExt cx="5549116" cy="7970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49116" cy="797057"/>
            </a:xfrm>
            <a:custGeom>
              <a:avLst/>
              <a:gdLst/>
              <a:ahLst/>
              <a:cxnLst/>
              <a:rect r="r" b="b" t="t" l="l"/>
              <a:pathLst>
                <a:path h="797057" w="5549116">
                  <a:moveTo>
                    <a:pt x="0" y="0"/>
                  </a:moveTo>
                  <a:lnTo>
                    <a:pt x="5549116" y="0"/>
                  </a:lnTo>
                  <a:lnTo>
                    <a:pt x="5549116" y="797057"/>
                  </a:lnTo>
                  <a:lnTo>
                    <a:pt x="0" y="797057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0"/>
                  </a:srgbClr>
                </a:gs>
                <a:gs pos="100000">
                  <a:srgbClr val="2376D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549116" cy="8351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05460" y="6203692"/>
            <a:ext cx="5495999" cy="2784359"/>
            <a:chOff x="0" y="0"/>
            <a:chExt cx="1315329" cy="6663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15329" cy="666366"/>
            </a:xfrm>
            <a:custGeom>
              <a:avLst/>
              <a:gdLst/>
              <a:ahLst/>
              <a:cxnLst/>
              <a:rect r="r" b="b" t="t" l="l"/>
              <a:pathLst>
                <a:path h="666366" w="1315329">
                  <a:moveTo>
                    <a:pt x="0" y="0"/>
                  </a:moveTo>
                  <a:lnTo>
                    <a:pt x="1315329" y="0"/>
                  </a:lnTo>
                  <a:lnTo>
                    <a:pt x="1315329" y="666366"/>
                  </a:lnTo>
                  <a:lnTo>
                    <a:pt x="0" y="666366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41000"/>
                  </a:srgbClr>
                </a:gs>
                <a:gs pos="50000">
                  <a:srgbClr val="0F2949">
                    <a:alpha val="0"/>
                  </a:srgbClr>
                </a:gs>
                <a:gs pos="100000">
                  <a:srgbClr val="328D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315329" cy="704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403553" y="6203692"/>
            <a:ext cx="5495999" cy="2784359"/>
            <a:chOff x="0" y="0"/>
            <a:chExt cx="1315329" cy="6663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5329" cy="666366"/>
            </a:xfrm>
            <a:custGeom>
              <a:avLst/>
              <a:gdLst/>
              <a:ahLst/>
              <a:cxnLst/>
              <a:rect r="r" b="b" t="t" l="l"/>
              <a:pathLst>
                <a:path h="666366" w="1315329">
                  <a:moveTo>
                    <a:pt x="0" y="0"/>
                  </a:moveTo>
                  <a:lnTo>
                    <a:pt x="1315329" y="0"/>
                  </a:lnTo>
                  <a:lnTo>
                    <a:pt x="1315329" y="666366"/>
                  </a:lnTo>
                  <a:lnTo>
                    <a:pt x="0" y="666366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41000"/>
                  </a:srgbClr>
                </a:gs>
                <a:gs pos="50000">
                  <a:srgbClr val="0F2949">
                    <a:alpha val="0"/>
                  </a:srgbClr>
                </a:gs>
                <a:gs pos="100000">
                  <a:srgbClr val="328D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315329" cy="704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528482" y="6203692"/>
            <a:ext cx="5495999" cy="2784359"/>
            <a:chOff x="0" y="0"/>
            <a:chExt cx="1315329" cy="6663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15329" cy="666366"/>
            </a:xfrm>
            <a:custGeom>
              <a:avLst/>
              <a:gdLst/>
              <a:ahLst/>
              <a:cxnLst/>
              <a:rect r="r" b="b" t="t" l="l"/>
              <a:pathLst>
                <a:path h="666366" w="1315329">
                  <a:moveTo>
                    <a:pt x="0" y="0"/>
                  </a:moveTo>
                  <a:lnTo>
                    <a:pt x="1315329" y="0"/>
                  </a:lnTo>
                  <a:lnTo>
                    <a:pt x="1315329" y="666366"/>
                  </a:lnTo>
                  <a:lnTo>
                    <a:pt x="0" y="666366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41000"/>
                  </a:srgbClr>
                </a:gs>
                <a:gs pos="50000">
                  <a:srgbClr val="0F2949">
                    <a:alpha val="0"/>
                  </a:srgbClr>
                </a:gs>
                <a:gs pos="100000">
                  <a:srgbClr val="328D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315329" cy="704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2785541" y="0"/>
            <a:ext cx="5502459" cy="1779688"/>
          </a:xfrm>
          <a:custGeom>
            <a:avLst/>
            <a:gdLst/>
            <a:ahLst/>
            <a:cxnLst/>
            <a:rect r="r" b="b" t="t" l="l"/>
            <a:pathLst>
              <a:path h="1779688" w="5502459">
                <a:moveTo>
                  <a:pt x="0" y="0"/>
                </a:moveTo>
                <a:lnTo>
                  <a:pt x="5502459" y="0"/>
                </a:lnTo>
                <a:lnTo>
                  <a:pt x="5502459" y="1779688"/>
                </a:lnTo>
                <a:lnTo>
                  <a:pt x="0" y="1779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" t="0" r="-261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045873" y="4645251"/>
            <a:ext cx="1183290" cy="1935853"/>
          </a:xfrm>
          <a:custGeom>
            <a:avLst/>
            <a:gdLst/>
            <a:ahLst/>
            <a:cxnLst/>
            <a:rect r="r" b="b" t="t" l="l"/>
            <a:pathLst>
              <a:path h="1935853" w="1183290">
                <a:moveTo>
                  <a:pt x="0" y="0"/>
                </a:moveTo>
                <a:lnTo>
                  <a:pt x="1183290" y="0"/>
                </a:lnTo>
                <a:lnTo>
                  <a:pt x="1183290" y="1935854"/>
                </a:lnTo>
                <a:lnTo>
                  <a:pt x="0" y="1935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059967" y="8705201"/>
            <a:ext cx="1494665" cy="1481587"/>
          </a:xfrm>
          <a:custGeom>
            <a:avLst/>
            <a:gdLst/>
            <a:ahLst/>
            <a:cxnLst/>
            <a:rect r="r" b="b" t="t" l="l"/>
            <a:pathLst>
              <a:path h="1481587" w="1494665">
                <a:moveTo>
                  <a:pt x="0" y="0"/>
                </a:moveTo>
                <a:lnTo>
                  <a:pt x="1494666" y="0"/>
                </a:lnTo>
                <a:lnTo>
                  <a:pt x="1494666" y="1481587"/>
                </a:lnTo>
                <a:lnTo>
                  <a:pt x="0" y="14815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702376" y="4837680"/>
            <a:ext cx="1115007" cy="1366012"/>
          </a:xfrm>
          <a:custGeom>
            <a:avLst/>
            <a:gdLst/>
            <a:ahLst/>
            <a:cxnLst/>
            <a:rect r="r" b="b" t="t" l="l"/>
            <a:pathLst>
              <a:path h="1366012" w="1115007">
                <a:moveTo>
                  <a:pt x="0" y="0"/>
                </a:moveTo>
                <a:lnTo>
                  <a:pt x="1115007" y="0"/>
                </a:lnTo>
                <a:lnTo>
                  <a:pt x="1115007" y="1366012"/>
                </a:lnTo>
                <a:lnTo>
                  <a:pt x="0" y="13660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72099" y="597307"/>
            <a:ext cx="7139009" cy="100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41"/>
              </a:lnSpc>
            </a:pPr>
            <a:r>
              <a:rPr lang="en-US" sz="800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OBJETIVO GENERAL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1728" y="9182100"/>
            <a:ext cx="724851" cy="45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b="true" sz="247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99366" y="6514430"/>
            <a:ext cx="4859594" cy="2306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Reducir en un 30% las desregulaciones emocionales de los niños tras 60 días de uso continuo, validados vía reportes.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693858" y="6514430"/>
            <a:ext cx="4763195" cy="2306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Alcanzar 100 usuarios activos en un plazo de 6 meses, asegurando una retención de comunidad del 60%.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101460" y="5301620"/>
            <a:ext cx="4923289" cy="616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9"/>
              </a:lnSpc>
              <a:spcBef>
                <a:spcPct val="0"/>
              </a:spcBef>
            </a:pPr>
            <a:r>
              <a:rPr lang="en-US" b="true" sz="347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Objetivos especificos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937777" y="6514430"/>
            <a:ext cx="4644204" cy="2306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Lograr que al menos 90% de los pictogramas sean cubiertas por la biblioteca nativa en los primeros 3 meses.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63047" y="2782642"/>
            <a:ext cx="17124953" cy="130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1"/>
              </a:lnSpc>
              <a:spcBef>
                <a:spcPct val="0"/>
              </a:spcBef>
            </a:pPr>
            <a:r>
              <a:rPr lang="en-US" b="true" sz="2443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Desarrollar una APP Móvil con plataforma web de planificación visual basada en pictogramas que facilite la autonomía y la autorregulación de niños con Necesidades Educativas Especiales (NEE), proporcionando una herramienta de gestión colaborativa entre familias y equipos multidisciplinarios.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05460" y="9029768"/>
            <a:ext cx="742179" cy="742179"/>
            <a:chOff x="0" y="0"/>
            <a:chExt cx="195471" cy="19547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5471" cy="195471"/>
            </a:xfrm>
            <a:custGeom>
              <a:avLst/>
              <a:gdLst/>
              <a:ahLst/>
              <a:cxnLst/>
              <a:rect r="r" b="b" t="t" l="l"/>
              <a:pathLst>
                <a:path h="195471" w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05460" y="1556804"/>
            <a:ext cx="9538208" cy="3196543"/>
            <a:chOff x="0" y="0"/>
            <a:chExt cx="2304219" cy="7722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04219" cy="772214"/>
            </a:xfrm>
            <a:custGeom>
              <a:avLst/>
              <a:gdLst/>
              <a:ahLst/>
              <a:cxnLst/>
              <a:rect r="r" b="b" t="t" l="l"/>
              <a:pathLst>
                <a:path h="772214" w="2304219">
                  <a:moveTo>
                    <a:pt x="0" y="0"/>
                  </a:moveTo>
                  <a:lnTo>
                    <a:pt x="2304219" y="0"/>
                  </a:lnTo>
                  <a:lnTo>
                    <a:pt x="2304219" y="772214"/>
                  </a:lnTo>
                  <a:lnTo>
                    <a:pt x="0" y="772214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41000"/>
                  </a:srgbClr>
                </a:gs>
                <a:gs pos="50000">
                  <a:srgbClr val="0F2949">
                    <a:alpha val="0"/>
                  </a:srgbClr>
                </a:gs>
                <a:gs pos="100000">
                  <a:srgbClr val="328D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304219" cy="810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86677" y="6197371"/>
            <a:ext cx="9538208" cy="2832397"/>
            <a:chOff x="0" y="0"/>
            <a:chExt cx="2304219" cy="6842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04219" cy="684244"/>
            </a:xfrm>
            <a:custGeom>
              <a:avLst/>
              <a:gdLst/>
              <a:ahLst/>
              <a:cxnLst/>
              <a:rect r="r" b="b" t="t" l="l"/>
              <a:pathLst>
                <a:path h="684244" w="2304219">
                  <a:moveTo>
                    <a:pt x="0" y="0"/>
                  </a:moveTo>
                  <a:lnTo>
                    <a:pt x="2304219" y="0"/>
                  </a:lnTo>
                  <a:lnTo>
                    <a:pt x="2304219" y="684244"/>
                  </a:lnTo>
                  <a:lnTo>
                    <a:pt x="0" y="684244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41000"/>
                  </a:srgbClr>
                </a:gs>
                <a:gs pos="50000">
                  <a:srgbClr val="0F2949">
                    <a:alpha val="0"/>
                  </a:srgbClr>
                </a:gs>
                <a:gs pos="100000">
                  <a:srgbClr val="328D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304219" cy="7223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48946" y="815122"/>
            <a:ext cx="546407" cy="345440"/>
            <a:chOff x="0" y="0"/>
            <a:chExt cx="143910" cy="909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3910" cy="90980"/>
            </a:xfrm>
            <a:custGeom>
              <a:avLst/>
              <a:gdLst/>
              <a:ahLst/>
              <a:cxnLst/>
              <a:rect r="r" b="b" t="t" l="l"/>
              <a:pathLst>
                <a:path h="90980" w="143910">
                  <a:moveTo>
                    <a:pt x="0" y="0"/>
                  </a:moveTo>
                  <a:lnTo>
                    <a:pt x="143910" y="0"/>
                  </a:lnTo>
                  <a:lnTo>
                    <a:pt x="143910" y="90980"/>
                  </a:lnTo>
                  <a:lnTo>
                    <a:pt x="0" y="90980"/>
                  </a:lnTo>
                  <a:close/>
                </a:path>
              </a:pathLst>
            </a:custGeom>
            <a:solidFill>
              <a:srgbClr val="006CC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14300"/>
              <a:ext cx="143910" cy="205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58078" y="5260057"/>
            <a:ext cx="530864" cy="345440"/>
            <a:chOff x="0" y="0"/>
            <a:chExt cx="139816" cy="909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9816" cy="90980"/>
            </a:xfrm>
            <a:custGeom>
              <a:avLst/>
              <a:gdLst/>
              <a:ahLst/>
              <a:cxnLst/>
              <a:rect r="r" b="b" t="t" l="l"/>
              <a:pathLst>
                <a:path h="90980" w="139816">
                  <a:moveTo>
                    <a:pt x="0" y="0"/>
                  </a:moveTo>
                  <a:lnTo>
                    <a:pt x="139816" y="0"/>
                  </a:lnTo>
                  <a:lnTo>
                    <a:pt x="139816" y="90980"/>
                  </a:lnTo>
                  <a:lnTo>
                    <a:pt x="0" y="90980"/>
                  </a:lnTo>
                  <a:close/>
                </a:path>
              </a:pathLst>
            </a:custGeom>
            <a:solidFill>
              <a:srgbClr val="006CC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14300"/>
              <a:ext cx="139816" cy="205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5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2785541" y="0"/>
            <a:ext cx="5502459" cy="1779688"/>
          </a:xfrm>
          <a:custGeom>
            <a:avLst/>
            <a:gdLst/>
            <a:ahLst/>
            <a:cxnLst/>
            <a:rect r="r" b="b" t="t" l="l"/>
            <a:pathLst>
              <a:path h="1779688" w="5502459">
                <a:moveTo>
                  <a:pt x="0" y="0"/>
                </a:moveTo>
                <a:lnTo>
                  <a:pt x="5502459" y="0"/>
                </a:lnTo>
                <a:lnTo>
                  <a:pt x="5502459" y="1779688"/>
                </a:lnTo>
                <a:lnTo>
                  <a:pt x="0" y="1779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" t="0" r="-261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07183" y="261550"/>
            <a:ext cx="1133329" cy="1133329"/>
          </a:xfrm>
          <a:custGeom>
            <a:avLst/>
            <a:gdLst/>
            <a:ahLst/>
            <a:cxnLst/>
            <a:rect r="r" b="b" t="t" l="l"/>
            <a:pathLst>
              <a:path h="1133329" w="1133329">
                <a:moveTo>
                  <a:pt x="0" y="0"/>
                </a:moveTo>
                <a:lnTo>
                  <a:pt x="1133329" y="0"/>
                </a:lnTo>
                <a:lnTo>
                  <a:pt x="1133329" y="1133329"/>
                </a:lnTo>
                <a:lnTo>
                  <a:pt x="0" y="11333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355023" y="4753348"/>
            <a:ext cx="1412990" cy="1404159"/>
          </a:xfrm>
          <a:custGeom>
            <a:avLst/>
            <a:gdLst/>
            <a:ahLst/>
            <a:cxnLst/>
            <a:rect r="r" b="b" t="t" l="l"/>
            <a:pathLst>
              <a:path h="1404159" w="1412990">
                <a:moveTo>
                  <a:pt x="0" y="0"/>
                </a:moveTo>
                <a:lnTo>
                  <a:pt x="1412990" y="0"/>
                </a:lnTo>
                <a:lnTo>
                  <a:pt x="1412990" y="1404159"/>
                </a:lnTo>
                <a:lnTo>
                  <a:pt x="0" y="1404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85225" y="1539722"/>
            <a:ext cx="17010239" cy="3198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0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Desarrollo de una aplicación móvil con plataforma web, permitiendo acceso multiplataforma al sistema.</a:t>
            </a:r>
          </a:p>
          <a:p>
            <a:pPr algn="l" marL="496571" indent="-248285" lvl="1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0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Implementación de gestión de rutinas mediante pictogramas, incluyendo creación, edición y eliminación de actividades.</a:t>
            </a:r>
          </a:p>
          <a:p>
            <a:pPr algn="l" marL="496571" indent="-248285" lvl="1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0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Diseño de visualización diaria y semanal de actividades para una mejor organización del usuario.</a:t>
            </a:r>
          </a:p>
          <a:p>
            <a:pPr algn="l" marL="496571" indent="-248285" lvl="1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0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Incorporación de alertas de anticipación configurables para apoyar la planificación y reducción de olvidos.</a:t>
            </a:r>
          </a:p>
          <a:p>
            <a:pPr algn="l" marL="496571" indent="-248285" lvl="1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0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Integración de un sistema de recompensas y seguimiento del progreso del usuario.</a:t>
            </a:r>
          </a:p>
          <a:p>
            <a:pPr algn="l" marL="496571" indent="-248285" lvl="1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0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Implementación de una base de datos centralizada para el almacenamiento de usuarios, rutinas y actividades.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1728" y="9182100"/>
            <a:ext cx="724851" cy="45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b="true" sz="247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66441" y="6130696"/>
            <a:ext cx="16934883" cy="2519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Los datos de los usuarios se utilizan exclusivamente para almacenamiento y análisis interno del sistema.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El sistema no incorpora funcionalidades de inteligencia artificial en esta versión.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No existe integración con plataformas externas, como calendarios o sistemas de gestión educativa.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La biblioteca de pictogramas está limitada a un conjunto de recursos predefinidos.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El sistema está diseñado inicialmente para su uso exclusivo en dispositivos móviles.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7758" y="614358"/>
            <a:ext cx="3332118" cy="942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79"/>
              </a:lnSpc>
              <a:spcBef>
                <a:spcPct val="0"/>
              </a:spcBef>
            </a:pPr>
            <a:r>
              <a:rPr lang="en-US" b="true" sz="527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Alcances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28479" y="5092999"/>
            <a:ext cx="4303509" cy="942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79"/>
              </a:lnSpc>
              <a:spcBef>
                <a:spcPct val="0"/>
              </a:spcBef>
            </a:pPr>
            <a:r>
              <a:rPr lang="en-US" b="true" sz="527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Limitaciones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997263"/>
            <a:ext cx="16383226" cy="3602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 utilizará una metodología ágil basada en Kanban, permitiendo gestionar el desarrollo de la aplicación de manera continua mediante la visualización del flujo de trabajo.</a:t>
            </a:r>
          </a:p>
          <a:p>
            <a:pPr algn="ctr">
              <a:lnSpc>
                <a:spcPts val="4059"/>
              </a:lnSpc>
            </a:pPr>
            <a:r>
              <a:rPr lang="en-US" b="true" sz="2899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Las tareas se organizan en un tablero Kanban, distribuidas en columnas como pendientes, en proceso y finalizadas, lo que facilitará el seguimiento del progreso y la identificación de cuellos de botella.</a:t>
            </a:r>
          </a:p>
          <a:p>
            <a:pPr algn="ctr">
              <a:lnSpc>
                <a:spcPts val="405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634006" y="6763217"/>
            <a:ext cx="3019987" cy="3019987"/>
          </a:xfrm>
          <a:custGeom>
            <a:avLst/>
            <a:gdLst/>
            <a:ahLst/>
            <a:cxnLst/>
            <a:rect r="r" b="b" t="t" l="l"/>
            <a:pathLst>
              <a:path h="3019987" w="3019987">
                <a:moveTo>
                  <a:pt x="0" y="0"/>
                </a:moveTo>
                <a:lnTo>
                  <a:pt x="3019988" y="0"/>
                </a:lnTo>
                <a:lnTo>
                  <a:pt x="3019988" y="3019988"/>
                </a:lnTo>
                <a:lnTo>
                  <a:pt x="0" y="30199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28242" y="7616671"/>
            <a:ext cx="4102864" cy="1092388"/>
          </a:xfrm>
          <a:custGeom>
            <a:avLst/>
            <a:gdLst/>
            <a:ahLst/>
            <a:cxnLst/>
            <a:rect r="r" b="b" t="t" l="l"/>
            <a:pathLst>
              <a:path h="1092388" w="4102864">
                <a:moveTo>
                  <a:pt x="0" y="0"/>
                </a:moveTo>
                <a:lnTo>
                  <a:pt x="4102865" y="0"/>
                </a:lnTo>
                <a:lnTo>
                  <a:pt x="4102865" y="1092387"/>
                </a:lnTo>
                <a:lnTo>
                  <a:pt x="0" y="10923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49972" y="6763217"/>
            <a:ext cx="1973869" cy="2647873"/>
          </a:xfrm>
          <a:custGeom>
            <a:avLst/>
            <a:gdLst/>
            <a:ahLst/>
            <a:cxnLst/>
            <a:rect r="r" b="b" t="t" l="l"/>
            <a:pathLst>
              <a:path h="2647873" w="1973869">
                <a:moveTo>
                  <a:pt x="0" y="0"/>
                </a:moveTo>
                <a:lnTo>
                  <a:pt x="1973868" y="0"/>
                </a:lnTo>
                <a:lnTo>
                  <a:pt x="1973868" y="2647873"/>
                </a:lnTo>
                <a:lnTo>
                  <a:pt x="0" y="26478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111332" y="2045780"/>
            <a:ext cx="6424671" cy="516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059"/>
              </a:lnSpc>
              <a:spcBef>
                <a:spcPct val="0"/>
              </a:spcBef>
            </a:pPr>
            <a:r>
              <a:rPr lang="en-US" b="true" sz="2899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Hibrida agil con kanban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785541" y="0"/>
            <a:ext cx="5502459" cy="1779688"/>
          </a:xfrm>
          <a:custGeom>
            <a:avLst/>
            <a:gdLst/>
            <a:ahLst/>
            <a:cxnLst/>
            <a:rect r="r" b="b" t="t" l="l"/>
            <a:pathLst>
              <a:path h="1779688" w="5502459">
                <a:moveTo>
                  <a:pt x="0" y="0"/>
                </a:moveTo>
                <a:lnTo>
                  <a:pt x="5502459" y="0"/>
                </a:lnTo>
                <a:lnTo>
                  <a:pt x="5502459" y="1779688"/>
                </a:lnTo>
                <a:lnTo>
                  <a:pt x="0" y="17796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71" t="0" r="-261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20639" y="603327"/>
            <a:ext cx="5970670" cy="100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41"/>
              </a:lnSpc>
              <a:spcBef>
                <a:spcPct val="0"/>
              </a:spcBef>
            </a:pPr>
            <a:r>
              <a:rPr lang="en-US" sz="80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METODOLOGÍA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05460" y="9029768"/>
            <a:ext cx="742179" cy="742179"/>
            <a:chOff x="0" y="0"/>
            <a:chExt cx="195471" cy="1954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471" cy="195471"/>
            </a:xfrm>
            <a:custGeom>
              <a:avLst/>
              <a:gdLst/>
              <a:ahLst/>
              <a:cxnLst/>
              <a:rect r="r" b="b" t="t" l="l"/>
              <a:pathLst>
                <a:path h="195471" w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41728" y="9182100"/>
            <a:ext cx="724851" cy="45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b="true" sz="247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1175080" y="1440228"/>
          <a:ext cx="18046136" cy="8239125"/>
        </p:xfrm>
        <a:graphic>
          <a:graphicData uri="http://schemas.openxmlformats.org/presentationml/2006/ole">
            <p:oleObj imgW="21653500" imgH="118491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294455" y="9258300"/>
            <a:ext cx="742179" cy="742179"/>
            <a:chOff x="0" y="0"/>
            <a:chExt cx="195471" cy="1954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471" cy="195471"/>
            </a:xfrm>
            <a:custGeom>
              <a:avLst/>
              <a:gdLst/>
              <a:ahLst/>
              <a:cxnLst/>
              <a:rect r="r" b="b" t="t" l="l"/>
              <a:pathLst>
                <a:path h="195471" w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30723" y="9410632"/>
            <a:ext cx="724851" cy="45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b="true" sz="247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4249" y="236268"/>
            <a:ext cx="12209427" cy="1203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0"/>
              </a:lnSpc>
            </a:pPr>
            <a:r>
              <a:rPr lang="en-US" sz="7200" spc="215" b="true">
                <a:solidFill>
                  <a:srgbClr val="FFFFFF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Cronograma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785541" y="0"/>
            <a:ext cx="5502459" cy="1779688"/>
          </a:xfrm>
          <a:custGeom>
            <a:avLst/>
            <a:gdLst/>
            <a:ahLst/>
            <a:cxnLst/>
            <a:rect r="r" b="b" t="t" l="l"/>
            <a:pathLst>
              <a:path h="1779688" w="5502459">
                <a:moveTo>
                  <a:pt x="0" y="0"/>
                </a:moveTo>
                <a:lnTo>
                  <a:pt x="5502459" y="0"/>
                </a:lnTo>
                <a:lnTo>
                  <a:pt x="5502459" y="1779688"/>
                </a:lnTo>
                <a:lnTo>
                  <a:pt x="0" y="17796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1" t="0" r="-261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85541" y="0"/>
            <a:ext cx="5502459" cy="1779688"/>
          </a:xfrm>
          <a:custGeom>
            <a:avLst/>
            <a:gdLst/>
            <a:ahLst/>
            <a:cxnLst/>
            <a:rect r="r" b="b" t="t" l="l"/>
            <a:pathLst>
              <a:path h="1779688" w="5502459">
                <a:moveTo>
                  <a:pt x="0" y="0"/>
                </a:moveTo>
                <a:lnTo>
                  <a:pt x="5502459" y="0"/>
                </a:lnTo>
                <a:lnTo>
                  <a:pt x="5502459" y="1779688"/>
                </a:lnTo>
                <a:lnTo>
                  <a:pt x="0" y="1779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" t="0" r="-261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05460" y="9029768"/>
            <a:ext cx="742179" cy="742179"/>
            <a:chOff x="0" y="0"/>
            <a:chExt cx="195471" cy="1954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471" cy="195471"/>
            </a:xfrm>
            <a:custGeom>
              <a:avLst/>
              <a:gdLst/>
              <a:ahLst/>
              <a:cxnLst/>
              <a:rect r="r" b="b" t="t" l="l"/>
              <a:pathLst>
                <a:path h="195471" w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5347783" y="1879714"/>
            <a:ext cx="7592435" cy="7753976"/>
          </a:xfrm>
          <a:custGeom>
            <a:avLst/>
            <a:gdLst/>
            <a:ahLst/>
            <a:cxnLst/>
            <a:rect r="r" b="b" t="t" l="l"/>
            <a:pathLst>
              <a:path h="7753976" w="7592435">
                <a:moveTo>
                  <a:pt x="0" y="0"/>
                </a:moveTo>
                <a:lnTo>
                  <a:pt x="7592434" y="0"/>
                </a:lnTo>
                <a:lnTo>
                  <a:pt x="7592434" y="7753976"/>
                </a:lnTo>
                <a:lnTo>
                  <a:pt x="0" y="77539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0" y="724004"/>
            <a:ext cx="11756892" cy="100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41"/>
              </a:lnSpc>
              <a:spcBef>
                <a:spcPct val="0"/>
              </a:spcBef>
            </a:pPr>
            <a:r>
              <a:rPr lang="en-US" sz="80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ARQUITECTURA DEL SOFTWARE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1728" y="9182100"/>
            <a:ext cx="724851" cy="45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b="true" sz="247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85541" y="0"/>
            <a:ext cx="5502459" cy="1779688"/>
          </a:xfrm>
          <a:custGeom>
            <a:avLst/>
            <a:gdLst/>
            <a:ahLst/>
            <a:cxnLst/>
            <a:rect r="r" b="b" t="t" l="l"/>
            <a:pathLst>
              <a:path h="1779688" w="5502459">
                <a:moveTo>
                  <a:pt x="0" y="0"/>
                </a:moveTo>
                <a:lnTo>
                  <a:pt x="5502459" y="0"/>
                </a:lnTo>
                <a:lnTo>
                  <a:pt x="5502459" y="1779688"/>
                </a:lnTo>
                <a:lnTo>
                  <a:pt x="0" y="1779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" t="0" r="-261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05460" y="9029768"/>
            <a:ext cx="742179" cy="742179"/>
            <a:chOff x="0" y="0"/>
            <a:chExt cx="195471" cy="1954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471" cy="195471"/>
            </a:xfrm>
            <a:custGeom>
              <a:avLst/>
              <a:gdLst/>
              <a:ahLst/>
              <a:cxnLst/>
              <a:rect r="r" b="b" t="t" l="l"/>
              <a:pathLst>
                <a:path h="195471" w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538797" y="1498516"/>
            <a:ext cx="12589022" cy="8717897"/>
          </a:xfrm>
          <a:custGeom>
            <a:avLst/>
            <a:gdLst/>
            <a:ahLst/>
            <a:cxnLst/>
            <a:rect r="r" b="b" t="t" l="l"/>
            <a:pathLst>
              <a:path h="8717897" w="12589022">
                <a:moveTo>
                  <a:pt x="0" y="0"/>
                </a:moveTo>
                <a:lnTo>
                  <a:pt x="12589021" y="0"/>
                </a:lnTo>
                <a:lnTo>
                  <a:pt x="12589021" y="8717898"/>
                </a:lnTo>
                <a:lnTo>
                  <a:pt x="0" y="87178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05460" y="490722"/>
            <a:ext cx="6822281" cy="100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41"/>
              </a:lnSpc>
              <a:spcBef>
                <a:spcPct val="0"/>
              </a:spcBef>
            </a:pPr>
            <a:r>
              <a:rPr lang="en-US" sz="80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MODELO DE DATOS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1728" y="9182100"/>
            <a:ext cx="724851" cy="45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b="true" sz="247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85541" y="0"/>
            <a:ext cx="5502459" cy="1779688"/>
          </a:xfrm>
          <a:custGeom>
            <a:avLst/>
            <a:gdLst/>
            <a:ahLst/>
            <a:cxnLst/>
            <a:rect r="r" b="b" t="t" l="l"/>
            <a:pathLst>
              <a:path h="1779688" w="5502459">
                <a:moveTo>
                  <a:pt x="0" y="0"/>
                </a:moveTo>
                <a:lnTo>
                  <a:pt x="5502459" y="0"/>
                </a:lnTo>
                <a:lnTo>
                  <a:pt x="5502459" y="1779688"/>
                </a:lnTo>
                <a:lnTo>
                  <a:pt x="0" y="1779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" t="0" r="-261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05460" y="9029768"/>
            <a:ext cx="742179" cy="742179"/>
            <a:chOff x="0" y="0"/>
            <a:chExt cx="195471" cy="1954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471" cy="195471"/>
            </a:xfrm>
            <a:custGeom>
              <a:avLst/>
              <a:gdLst/>
              <a:ahLst/>
              <a:cxnLst/>
              <a:rect r="r" b="b" t="t" l="l"/>
              <a:pathLst>
                <a:path h="195471" w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graphicFrame>
        <p:nvGraphicFramePr>
          <p:cNvPr name="Object 7" id="7"/>
          <p:cNvGraphicFramePr/>
          <p:nvPr/>
        </p:nvGraphicFramePr>
        <p:xfrm>
          <a:off x="241635" y="1896356"/>
          <a:ext cx="17964703" cy="7967927"/>
        </p:xfrm>
        <a:graphic>
          <a:graphicData uri="http://schemas.openxmlformats.org/presentationml/2006/ole">
            <p:oleObj imgW="21551900" imgH="115570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0" y="629578"/>
            <a:ext cx="10154019" cy="100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41"/>
              </a:lnSpc>
              <a:spcBef>
                <a:spcPct val="0"/>
              </a:spcBef>
            </a:pPr>
            <a:r>
              <a:rPr lang="en-US" sz="800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</a:t>
            </a:r>
            <a:r>
              <a:rPr lang="en-US" sz="80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</a:t>
            </a:r>
            <a:r>
              <a:rPr lang="en-US" sz="80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CNO</a:t>
            </a:r>
            <a:r>
              <a:rPr lang="en-US" sz="80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LO</a:t>
            </a:r>
            <a:r>
              <a:rPr lang="en-US" sz="80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GÍAS</a:t>
            </a:r>
            <a:r>
              <a:rPr lang="en-US" sz="80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  <a:r>
              <a:rPr lang="en-US" sz="80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UTILIZA</a:t>
            </a:r>
            <a:r>
              <a:rPr lang="en-US" sz="80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1728" y="9182100"/>
            <a:ext cx="724851" cy="45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b="true" sz="247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85541" y="0"/>
            <a:ext cx="5502459" cy="1779688"/>
          </a:xfrm>
          <a:custGeom>
            <a:avLst/>
            <a:gdLst/>
            <a:ahLst/>
            <a:cxnLst/>
            <a:rect r="r" b="b" t="t" l="l"/>
            <a:pathLst>
              <a:path h="1779688" w="5502459">
                <a:moveTo>
                  <a:pt x="0" y="0"/>
                </a:moveTo>
                <a:lnTo>
                  <a:pt x="5502459" y="0"/>
                </a:lnTo>
                <a:lnTo>
                  <a:pt x="5502459" y="1779688"/>
                </a:lnTo>
                <a:lnTo>
                  <a:pt x="0" y="1779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" t="0" r="-261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05460" y="9029768"/>
            <a:ext cx="742179" cy="742179"/>
            <a:chOff x="0" y="0"/>
            <a:chExt cx="195471" cy="1954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471" cy="195471"/>
            </a:xfrm>
            <a:custGeom>
              <a:avLst/>
              <a:gdLst/>
              <a:ahLst/>
              <a:cxnLst/>
              <a:rect r="r" b="b" t="t" l="l"/>
              <a:pathLst>
                <a:path h="195471" w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3483978" y="2378280"/>
            <a:ext cx="3868509" cy="3766960"/>
          </a:xfrm>
          <a:custGeom>
            <a:avLst/>
            <a:gdLst/>
            <a:ahLst/>
            <a:cxnLst/>
            <a:rect r="r" b="b" t="t" l="l"/>
            <a:pathLst>
              <a:path h="3766960" w="3868509">
                <a:moveTo>
                  <a:pt x="0" y="0"/>
                </a:moveTo>
                <a:lnTo>
                  <a:pt x="3868509" y="0"/>
                </a:lnTo>
                <a:lnTo>
                  <a:pt x="3868509" y="3766960"/>
                </a:lnTo>
                <a:lnTo>
                  <a:pt x="0" y="37669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54036" y="629578"/>
            <a:ext cx="8854559" cy="100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41"/>
              </a:lnSpc>
              <a:spcBef>
                <a:spcPct val="0"/>
              </a:spcBef>
            </a:pPr>
            <a:r>
              <a:rPr lang="en-US" sz="80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RESULTADOS OBTENIDOS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1728" y="9182100"/>
            <a:ext cx="724851" cy="45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b="true" sz="247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1538" y="3023424"/>
            <a:ext cx="16251531" cy="4667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38"/>
              </a:lnSpc>
              <a:spcBef>
                <a:spcPct val="0"/>
              </a:spcBef>
            </a:pPr>
            <a:r>
              <a:rPr lang="en-US" b="true" sz="3027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✅ Digi</a:t>
            </a:r>
            <a:r>
              <a:rPr lang="en-US" b="true" sz="30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talización completa de la gestión de rutinas y actividades.</a:t>
            </a:r>
          </a:p>
          <a:p>
            <a:pPr algn="just">
              <a:lnSpc>
                <a:spcPts val="4098"/>
              </a:lnSpc>
              <a:spcBef>
                <a:spcPct val="0"/>
              </a:spcBef>
            </a:pP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✅ Plataf</a:t>
            </a: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orma </a:t>
            </a: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</a:t>
            </a: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</a:t>
            </a: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 y</a:t>
            </a: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móvil operativa y funcional.</a:t>
            </a:r>
          </a:p>
          <a:p>
            <a:pPr algn="just">
              <a:lnSpc>
                <a:spcPts val="4098"/>
              </a:lnSpc>
              <a:spcBef>
                <a:spcPct val="0"/>
              </a:spcBef>
            </a:pP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✅ Centralización y acceso en tiempo real a la informa</a:t>
            </a: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ción</a:t>
            </a: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.</a:t>
            </a:r>
          </a:p>
          <a:p>
            <a:pPr algn="just">
              <a:lnSpc>
                <a:spcPts val="4098"/>
              </a:lnSpc>
              <a:spcBef>
                <a:spcPct val="0"/>
              </a:spcBef>
            </a:pP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✅ Au</a:t>
            </a: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tomatización del seguimiento y control de actividades.</a:t>
            </a:r>
          </a:p>
          <a:p>
            <a:pPr algn="just">
              <a:lnSpc>
                <a:spcPts val="4098"/>
              </a:lnSpc>
              <a:spcBef>
                <a:spcPct val="0"/>
              </a:spcBef>
            </a:pP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✅ Mejora en la organización y planificación diaria</a:t>
            </a: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.</a:t>
            </a:r>
          </a:p>
          <a:p>
            <a:pPr algn="just">
              <a:lnSpc>
                <a:spcPts val="4098"/>
              </a:lnSpc>
              <a:spcBef>
                <a:spcPct val="0"/>
              </a:spcBef>
            </a:pP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✅</a:t>
            </a: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Implementación de alertas, pictograma</a:t>
            </a: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</a:t>
            </a: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y</a:t>
            </a: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sistema de recompensas.</a:t>
            </a:r>
          </a:p>
          <a:p>
            <a:pPr algn="just">
              <a:lnSpc>
                <a:spcPts val="4098"/>
              </a:lnSpc>
              <a:spcBef>
                <a:spcPct val="0"/>
              </a:spcBef>
            </a:pP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✅ Arquitectura escalable preparada para futuras versiones.</a:t>
            </a:r>
          </a:p>
          <a:p>
            <a:pPr algn="just">
              <a:lnSpc>
                <a:spcPts val="4098"/>
              </a:lnSpc>
              <a:spcBef>
                <a:spcPct val="0"/>
              </a:spcBef>
            </a:pPr>
          </a:p>
          <a:p>
            <a:pPr algn="just">
              <a:lnSpc>
                <a:spcPts val="409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85541" y="0"/>
            <a:ext cx="5502459" cy="1779688"/>
          </a:xfrm>
          <a:custGeom>
            <a:avLst/>
            <a:gdLst/>
            <a:ahLst/>
            <a:cxnLst/>
            <a:rect r="r" b="b" t="t" l="l"/>
            <a:pathLst>
              <a:path h="1779688" w="5502459">
                <a:moveTo>
                  <a:pt x="0" y="0"/>
                </a:moveTo>
                <a:lnTo>
                  <a:pt x="5502459" y="0"/>
                </a:lnTo>
                <a:lnTo>
                  <a:pt x="5502459" y="1779688"/>
                </a:lnTo>
                <a:lnTo>
                  <a:pt x="0" y="1779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" t="0" r="-261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05460" y="9029768"/>
            <a:ext cx="742179" cy="742179"/>
            <a:chOff x="0" y="0"/>
            <a:chExt cx="195471" cy="1954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471" cy="195471"/>
            </a:xfrm>
            <a:custGeom>
              <a:avLst/>
              <a:gdLst/>
              <a:ahLst/>
              <a:cxnLst/>
              <a:rect r="r" b="b" t="t" l="l"/>
              <a:pathLst>
                <a:path h="195471" w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09535" y="3494452"/>
            <a:ext cx="17778465" cy="361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4"/>
              </a:lnSpc>
            </a:pPr>
            <a:r>
              <a:rPr lang="en-US" b="true" sz="341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⚠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Optim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iza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ón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de la base de datos 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y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mo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elo 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da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to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s.</a:t>
            </a:r>
          </a:p>
          <a:p>
            <a:pPr algn="l">
              <a:lnSpc>
                <a:spcPts val="4774"/>
              </a:lnSpc>
            </a:pP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⚠ 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ntegración entre plataforma mó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vil,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y backend.</a:t>
            </a:r>
          </a:p>
          <a:p>
            <a:pPr algn="l">
              <a:lnSpc>
                <a:spcPts val="4774"/>
              </a:lnSpc>
            </a:pP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⚠ 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Aju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 en la gestión de rutinas 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y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actividades.</a:t>
            </a:r>
          </a:p>
          <a:p>
            <a:pPr algn="l">
              <a:lnSpc>
                <a:spcPts val="4774"/>
              </a:lnSpc>
            </a:pP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⚠ 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mplementación del sistema de alertas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.</a:t>
            </a:r>
          </a:p>
          <a:p>
            <a:pPr algn="l">
              <a:lnSpc>
                <a:spcPts val="4774"/>
              </a:lnSpc>
            </a:pP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⚠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oras 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 u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ili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e interfaz de usuario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.</a:t>
            </a:r>
          </a:p>
          <a:p>
            <a:pPr algn="l">
              <a:lnSpc>
                <a:spcPts val="4774"/>
              </a:lnSpc>
            </a:pP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⚠ Cambio en la estrategia de despliegue y distribución de la aplicación.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541156" y="1500188"/>
            <a:ext cx="1244384" cy="1565263"/>
          </a:xfrm>
          <a:custGeom>
            <a:avLst/>
            <a:gdLst/>
            <a:ahLst/>
            <a:cxnLst/>
            <a:rect r="r" b="b" t="t" l="l"/>
            <a:pathLst>
              <a:path h="1565263" w="1244384">
                <a:moveTo>
                  <a:pt x="0" y="0"/>
                </a:moveTo>
                <a:lnTo>
                  <a:pt x="1244385" y="0"/>
                </a:lnTo>
                <a:lnTo>
                  <a:pt x="1244385" y="1565263"/>
                </a:lnTo>
                <a:lnTo>
                  <a:pt x="0" y="15652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6488" y="620975"/>
            <a:ext cx="13730692" cy="1661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25"/>
              </a:lnSpc>
              <a:spcBef>
                <a:spcPct val="0"/>
              </a:spcBef>
            </a:pPr>
            <a:r>
              <a:rPr lang="en-US" sz="680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OB</a:t>
            </a:r>
            <a:r>
              <a:rPr lang="en-US" sz="68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</a:t>
            </a:r>
            <a:r>
              <a:rPr lang="en-US" sz="68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TÁC</a:t>
            </a:r>
            <a:r>
              <a:rPr lang="en-US" sz="68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UL</a:t>
            </a:r>
            <a:r>
              <a:rPr lang="en-US" sz="68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OS PRESEN</a:t>
            </a:r>
            <a:r>
              <a:rPr lang="en-US" sz="68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TADOS </a:t>
            </a:r>
            <a:r>
              <a:rPr lang="en-US" sz="68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DURAN</a:t>
            </a:r>
            <a:r>
              <a:rPr lang="en-US" sz="68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TE</a:t>
            </a:r>
            <a:r>
              <a:rPr lang="en-US" sz="68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EL </a:t>
            </a:r>
            <a:r>
              <a:rPr lang="en-US" sz="68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</a:t>
            </a:r>
            <a:r>
              <a:rPr lang="en-US" sz="68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ESARR</a:t>
            </a:r>
            <a:r>
              <a:rPr lang="en-US" sz="68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O</a:t>
            </a:r>
            <a:r>
              <a:rPr lang="en-US" sz="68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LLO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1728" y="9182100"/>
            <a:ext cx="724851" cy="45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b="true" sz="247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85541" y="0"/>
            <a:ext cx="5502459" cy="1779688"/>
          </a:xfrm>
          <a:custGeom>
            <a:avLst/>
            <a:gdLst/>
            <a:ahLst/>
            <a:cxnLst/>
            <a:rect r="r" b="b" t="t" l="l"/>
            <a:pathLst>
              <a:path h="1779688" w="5502459">
                <a:moveTo>
                  <a:pt x="0" y="0"/>
                </a:moveTo>
                <a:lnTo>
                  <a:pt x="5502459" y="0"/>
                </a:lnTo>
                <a:lnTo>
                  <a:pt x="5502459" y="1779688"/>
                </a:lnTo>
                <a:lnTo>
                  <a:pt x="0" y="1779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" t="0" r="-261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05460" y="9029768"/>
            <a:ext cx="742179" cy="742179"/>
            <a:chOff x="0" y="0"/>
            <a:chExt cx="195471" cy="1954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471" cy="195471"/>
            </a:xfrm>
            <a:custGeom>
              <a:avLst/>
              <a:gdLst/>
              <a:ahLst/>
              <a:cxnLst/>
              <a:rect r="r" b="b" t="t" l="l"/>
              <a:pathLst>
                <a:path h="195471" w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773109" y="3265126"/>
            <a:ext cx="4741782" cy="4599529"/>
          </a:xfrm>
          <a:custGeom>
            <a:avLst/>
            <a:gdLst/>
            <a:ahLst/>
            <a:cxnLst/>
            <a:rect r="r" b="b" t="t" l="l"/>
            <a:pathLst>
              <a:path h="4599529" w="4741782">
                <a:moveTo>
                  <a:pt x="0" y="0"/>
                </a:moveTo>
                <a:lnTo>
                  <a:pt x="4741782" y="0"/>
                </a:lnTo>
                <a:lnTo>
                  <a:pt x="4741782" y="4599529"/>
                </a:lnTo>
                <a:lnTo>
                  <a:pt x="0" y="4599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0" y="629578"/>
            <a:ext cx="7259279" cy="100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41"/>
              </a:lnSpc>
              <a:spcBef>
                <a:spcPct val="0"/>
              </a:spcBef>
            </a:pPr>
            <a:r>
              <a:rPr lang="en-US" sz="800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DEMOSTRACIÓN</a:t>
            </a:r>
            <a:r>
              <a:rPr lang="en-US" sz="80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1728" y="9182100"/>
            <a:ext cx="724851" cy="45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b="true" sz="247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85541" y="0"/>
            <a:ext cx="5502459" cy="1779688"/>
          </a:xfrm>
          <a:custGeom>
            <a:avLst/>
            <a:gdLst/>
            <a:ahLst/>
            <a:cxnLst/>
            <a:rect r="r" b="b" t="t" l="l"/>
            <a:pathLst>
              <a:path h="1779688" w="5502459">
                <a:moveTo>
                  <a:pt x="0" y="0"/>
                </a:moveTo>
                <a:lnTo>
                  <a:pt x="5502459" y="0"/>
                </a:lnTo>
                <a:lnTo>
                  <a:pt x="5502459" y="1779688"/>
                </a:lnTo>
                <a:lnTo>
                  <a:pt x="0" y="1779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" t="0" r="-261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05460" y="9029768"/>
            <a:ext cx="742179" cy="742179"/>
            <a:chOff x="0" y="0"/>
            <a:chExt cx="195471" cy="1954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471" cy="195471"/>
            </a:xfrm>
            <a:custGeom>
              <a:avLst/>
              <a:gdLst/>
              <a:ahLst/>
              <a:cxnLst/>
              <a:rect r="r" b="b" t="t" l="l"/>
              <a:pathLst>
                <a:path h="195471" w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5444903" y="2659192"/>
            <a:ext cx="6056109" cy="5564050"/>
          </a:xfrm>
          <a:custGeom>
            <a:avLst/>
            <a:gdLst/>
            <a:ahLst/>
            <a:cxnLst/>
            <a:rect r="r" b="b" t="t" l="l"/>
            <a:pathLst>
              <a:path h="5564050" w="6056109">
                <a:moveTo>
                  <a:pt x="0" y="0"/>
                </a:moveTo>
                <a:lnTo>
                  <a:pt x="6056109" y="0"/>
                </a:lnTo>
                <a:lnTo>
                  <a:pt x="6056109" y="5564050"/>
                </a:lnTo>
                <a:lnTo>
                  <a:pt x="0" y="55640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0" y="629578"/>
            <a:ext cx="7259279" cy="100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41"/>
              </a:lnSpc>
              <a:spcBef>
                <a:spcPct val="0"/>
              </a:spcBef>
            </a:pPr>
            <a:r>
              <a:rPr lang="en-US" sz="800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PREGUNTAS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1728" y="9182100"/>
            <a:ext cx="724851" cy="45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b="true" sz="247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DAHMqrH7xoQ</dc:identifier>
  <dcterms:modified xsi:type="dcterms:W3CDTF">2011-08-01T06:04:30Z</dcterms:modified>
  <cp:revision>1</cp:revision>
  <dc:title>Anticipa</dc:title>
</cp:coreProperties>
</file>