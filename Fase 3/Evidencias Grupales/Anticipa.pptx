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nva Sans" charset="1" panose="020B0503030501040103"/>
      <p:regular r:id="rId22"/>
    </p:embeddedFont>
    <p:embeddedFont>
      <p:font typeface="Poppins Medium" charset="1" panose="00000600000000000000"/>
      <p:regular r:id="rId23"/>
    </p:embeddedFont>
    <p:embeddedFont>
      <p:font typeface="Anton" charset="1" panose="00000500000000000000"/>
      <p:regular r:id="rId24"/>
    </p:embeddedFont>
    <p:embeddedFont>
      <p:font typeface="Helios Extended Bold" charset="1" panose="02000805050000020004"/>
      <p:regular r:id="rId25"/>
    </p:embeddedFont>
    <p:embeddedFont>
      <p:font typeface="Poppins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3.png" Type="http://schemas.openxmlformats.org/officeDocument/2006/relationships/image"/><Relationship Id="rId7" Target="../media/image16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3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39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.pn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3730205"/>
            <a:ext cx="18502431" cy="2826589"/>
            <a:chOff x="0" y="0"/>
            <a:chExt cx="4873068" cy="74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73068" cy="744451"/>
            </a:xfrm>
            <a:custGeom>
              <a:avLst/>
              <a:gdLst/>
              <a:ahLst/>
              <a:cxnLst/>
              <a:rect r="r" b="b" t="t" l="l"/>
              <a:pathLst>
                <a:path h="744451" w="4873068">
                  <a:moveTo>
                    <a:pt x="0" y="0"/>
                  </a:moveTo>
                  <a:lnTo>
                    <a:pt x="4873068" y="0"/>
                  </a:lnTo>
                  <a:lnTo>
                    <a:pt x="4873068" y="744451"/>
                  </a:lnTo>
                  <a:lnTo>
                    <a:pt x="0" y="744451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73068" cy="78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046433" y="1652294"/>
            <a:ext cx="5858558" cy="7478612"/>
          </a:xfrm>
          <a:custGeom>
            <a:avLst/>
            <a:gdLst/>
            <a:ahLst/>
            <a:cxnLst/>
            <a:rect r="r" b="b" t="t" l="l"/>
            <a:pathLst>
              <a:path h="7478612" w="5858558">
                <a:moveTo>
                  <a:pt x="0" y="0"/>
                </a:moveTo>
                <a:lnTo>
                  <a:pt x="5858557" y="0"/>
                </a:lnTo>
                <a:lnTo>
                  <a:pt x="5858557" y="7478612"/>
                </a:lnTo>
                <a:lnTo>
                  <a:pt x="0" y="7478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412" t="0" r="-1324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1" t="0" r="-26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1259" y="8240395"/>
            <a:ext cx="6357025" cy="217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Asignatura:  Capstone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Docentes:   JUAN PABLO MELLADO</a:t>
            </a:r>
          </a:p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</a:t>
            </a: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MABEL ALEJANDRA HERRERA 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Carrera:       Ingeniería en Informática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Fecha:          06 Julio 2026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52450" y="1995627"/>
            <a:ext cx="21069300" cy="6267450"/>
            <a:chOff x="0" y="0"/>
            <a:chExt cx="5549116" cy="16506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49116" cy="1650686"/>
            </a:xfrm>
            <a:custGeom>
              <a:avLst/>
              <a:gdLst/>
              <a:ahLst/>
              <a:cxnLst/>
              <a:rect r="r" b="b" t="t" l="l"/>
              <a:pathLst>
                <a:path h="1650686" w="5549116">
                  <a:moveTo>
                    <a:pt x="0" y="0"/>
                  </a:moveTo>
                  <a:lnTo>
                    <a:pt x="5549116" y="0"/>
                  </a:lnTo>
                  <a:lnTo>
                    <a:pt x="5549116" y="1650686"/>
                  </a:lnTo>
                  <a:lnTo>
                    <a:pt x="0" y="1650686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549116" cy="1688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3141693" y="2507132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5802923" y="0"/>
                </a:moveTo>
                <a:lnTo>
                  <a:pt x="0" y="0"/>
                </a:lnTo>
                <a:lnTo>
                  <a:pt x="0" y="4114800"/>
                </a:lnTo>
                <a:lnTo>
                  <a:pt x="5802923" y="4114800"/>
                </a:lnTo>
                <a:lnTo>
                  <a:pt x="58029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12143" y="2507132"/>
            <a:ext cx="5802923" cy="4114800"/>
          </a:xfrm>
          <a:custGeom>
            <a:avLst/>
            <a:gdLst/>
            <a:ahLst/>
            <a:cxnLst/>
            <a:rect r="r" b="b" t="t" l="l"/>
            <a:pathLst>
              <a:path h="4114800" w="5802923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1" t="0" r="-261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04154" y="2478789"/>
            <a:ext cx="2549251" cy="3427564"/>
          </a:xfrm>
          <a:custGeom>
            <a:avLst/>
            <a:gdLst/>
            <a:ahLst/>
            <a:cxnLst/>
            <a:rect r="r" b="b" t="t" l="l"/>
            <a:pathLst>
              <a:path h="3427564" w="2549251">
                <a:moveTo>
                  <a:pt x="0" y="0"/>
                </a:moveTo>
                <a:lnTo>
                  <a:pt x="2549250" y="0"/>
                </a:lnTo>
                <a:lnTo>
                  <a:pt x="2549250" y="3427564"/>
                </a:lnTo>
                <a:lnTo>
                  <a:pt x="0" y="3427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19855" y="2619507"/>
            <a:ext cx="2662345" cy="3286846"/>
          </a:xfrm>
          <a:custGeom>
            <a:avLst/>
            <a:gdLst/>
            <a:ahLst/>
            <a:cxnLst/>
            <a:rect r="r" b="b" t="t" l="l"/>
            <a:pathLst>
              <a:path h="3286846" w="2662345">
                <a:moveTo>
                  <a:pt x="0" y="0"/>
                </a:moveTo>
                <a:lnTo>
                  <a:pt x="2662345" y="0"/>
                </a:lnTo>
                <a:lnTo>
                  <a:pt x="2662345" y="3286846"/>
                </a:lnTo>
                <a:lnTo>
                  <a:pt x="0" y="32868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41693" y="2619507"/>
            <a:ext cx="3609870" cy="3166157"/>
          </a:xfrm>
          <a:custGeom>
            <a:avLst/>
            <a:gdLst/>
            <a:ahLst/>
            <a:cxnLst/>
            <a:rect r="r" b="b" t="t" l="l"/>
            <a:pathLst>
              <a:path h="3166157" w="3609870">
                <a:moveTo>
                  <a:pt x="0" y="0"/>
                </a:moveTo>
                <a:lnTo>
                  <a:pt x="3609870" y="0"/>
                </a:lnTo>
                <a:lnTo>
                  <a:pt x="3609870" y="3166157"/>
                </a:lnTo>
                <a:lnTo>
                  <a:pt x="0" y="3166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-1052633" y="370151"/>
            <a:ext cx="8697222" cy="113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9"/>
              </a:lnSpc>
              <a:spcBef>
                <a:spcPct val="0"/>
              </a:spcBef>
            </a:pPr>
            <a:r>
              <a:rPr lang="en-US" b="true" sz="62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36436" y="6083143"/>
            <a:ext cx="5481880" cy="1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  <a:spcBef>
                <a:spcPct val="0"/>
              </a:spcBef>
            </a:pPr>
            <a:r>
              <a:rPr lang="en-US" b="true" sz="19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Agustín Jara Millan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Frontend / UI-UX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Diseño e implementación de interfaces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Desarrollo de pantallas y pictogramas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Mejora de usabilidad del sistema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4080" y="6083143"/>
            <a:ext cx="4652533" cy="197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  <a:spcBef>
                <a:spcPct val="0"/>
              </a:spcBef>
            </a:pPr>
            <a:r>
              <a:rPr lang="en-US" b="true" sz="19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Sebastián Solar Aburto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  <a:r>
              <a:rPr lang="en-US" b="true" sz="18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Líder de proyecto / Full Stack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Coordinación del proyecto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Desarrollo backend y base de datos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Integración del sistema móvil y web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429034" y="6083143"/>
            <a:ext cx="5364427" cy="164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1"/>
              </a:lnSpc>
              <a:spcBef>
                <a:spcPct val="0"/>
              </a:spcBef>
            </a:pPr>
            <a:r>
              <a:rPr lang="en-US" b="true" sz="19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Carlos Catalán Donoso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Backend / QA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Desarrollo de funcionalidades del sistema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Pruebas y detección de errores</a:t>
            </a:r>
          </a:p>
          <a:p>
            <a:pPr algn="l" marL="398099" indent="-199050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3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Soporte y optimización del sistema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4154" y="2147354"/>
            <a:ext cx="9538208" cy="2758393"/>
            <a:chOff x="0" y="0"/>
            <a:chExt cx="2304219" cy="6663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4219" cy="666366"/>
            </a:xfrm>
            <a:custGeom>
              <a:avLst/>
              <a:gdLst/>
              <a:ahLst/>
              <a:cxnLst/>
              <a:rect r="r" b="b" t="t" l="l"/>
              <a:pathLst>
                <a:path h="666366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666366"/>
                  </a:lnTo>
                  <a:lnTo>
                    <a:pt x="0" y="66636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04219" cy="704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4154" y="6136539"/>
            <a:ext cx="9538208" cy="2832397"/>
            <a:chOff x="0" y="0"/>
            <a:chExt cx="2304219" cy="6842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4219" cy="684244"/>
            </a:xfrm>
            <a:custGeom>
              <a:avLst/>
              <a:gdLst/>
              <a:ahLst/>
              <a:cxnLst/>
              <a:rect r="r" b="b" t="t" l="l"/>
              <a:pathLst>
                <a:path h="684244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684244"/>
                  </a:lnTo>
                  <a:lnTo>
                    <a:pt x="0" y="68424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04219" cy="722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42362" y="3339148"/>
            <a:ext cx="7561635" cy="2940889"/>
            <a:chOff x="0" y="0"/>
            <a:chExt cx="1991542" cy="7745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1542" cy="774555"/>
            </a:xfrm>
            <a:custGeom>
              <a:avLst/>
              <a:gdLst/>
              <a:ahLst/>
              <a:cxnLst/>
              <a:rect r="r" b="b" t="t" l="l"/>
              <a:pathLst>
                <a:path h="774555" w="1991542">
                  <a:moveTo>
                    <a:pt x="0" y="0"/>
                  </a:moveTo>
                  <a:lnTo>
                    <a:pt x="1991542" y="0"/>
                  </a:lnTo>
                  <a:lnTo>
                    <a:pt x="1991542" y="774555"/>
                  </a:lnTo>
                  <a:lnTo>
                    <a:pt x="0" y="77455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1000"/>
                  </a:srgbClr>
                </a:gs>
                <a:gs pos="100000">
                  <a:srgbClr val="000000">
                    <a:alpha val="41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91542" cy="812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250529" y="7143262"/>
            <a:ext cx="4017541" cy="4114800"/>
          </a:xfrm>
          <a:custGeom>
            <a:avLst/>
            <a:gdLst/>
            <a:ahLst/>
            <a:cxnLst/>
            <a:rect r="r" b="b" t="t" l="l"/>
            <a:pathLst>
              <a:path h="4114800" w="4017541">
                <a:moveTo>
                  <a:pt x="0" y="0"/>
                </a:moveTo>
                <a:lnTo>
                  <a:pt x="4017542" y="0"/>
                </a:lnTo>
                <a:lnTo>
                  <a:pt x="401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47640" y="1405672"/>
            <a:ext cx="546407" cy="345440"/>
            <a:chOff x="0" y="0"/>
            <a:chExt cx="143910" cy="909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3910" cy="90980"/>
            </a:xfrm>
            <a:custGeom>
              <a:avLst/>
              <a:gdLst/>
              <a:ahLst/>
              <a:cxnLst/>
              <a:rect r="r" b="b" t="t" l="l"/>
              <a:pathLst>
                <a:path h="90980" w="143910">
                  <a:moveTo>
                    <a:pt x="0" y="0"/>
                  </a:moveTo>
                  <a:lnTo>
                    <a:pt x="143910" y="0"/>
                  </a:lnTo>
                  <a:lnTo>
                    <a:pt x="14391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14300"/>
              <a:ext cx="143910" cy="205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99280" y="2334415"/>
            <a:ext cx="9089798" cy="320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 niños con Necesidades Educativas Especiales presentan dificultades para comprender y anticipar sus rutinas diarias, especialmente cuando la información se entrega en formato textual.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Esto genera ansiedad, desregulación emocional y dificultades en la adaptación a cambios.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375555" y="5199224"/>
            <a:ext cx="530864" cy="345440"/>
            <a:chOff x="0" y="0"/>
            <a:chExt cx="139816" cy="909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816" cy="90980"/>
            </a:xfrm>
            <a:custGeom>
              <a:avLst/>
              <a:gdLst/>
              <a:ahLst/>
              <a:cxnLst/>
              <a:rect r="r" b="b" t="t" l="l"/>
              <a:pathLst>
                <a:path h="90980" w="139816">
                  <a:moveTo>
                    <a:pt x="0" y="0"/>
                  </a:moveTo>
                  <a:lnTo>
                    <a:pt x="139816" y="0"/>
                  </a:lnTo>
                  <a:lnTo>
                    <a:pt x="139816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139816" cy="205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909500" y="1469480"/>
            <a:ext cx="1808903" cy="3739335"/>
          </a:xfrm>
          <a:custGeom>
            <a:avLst/>
            <a:gdLst/>
            <a:ahLst/>
            <a:cxnLst/>
            <a:rect r="r" b="b" t="t" l="l"/>
            <a:pathLst>
              <a:path h="3739335" w="1808903">
                <a:moveTo>
                  <a:pt x="0" y="0"/>
                </a:moveTo>
                <a:lnTo>
                  <a:pt x="1808903" y="0"/>
                </a:lnTo>
                <a:lnTo>
                  <a:pt x="1808903" y="3739335"/>
                </a:lnTo>
                <a:lnTo>
                  <a:pt x="0" y="3739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1" t="0" r="-261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568478" y="5758136"/>
            <a:ext cx="2024322" cy="3271632"/>
          </a:xfrm>
          <a:custGeom>
            <a:avLst/>
            <a:gdLst/>
            <a:ahLst/>
            <a:cxnLst/>
            <a:rect r="r" b="b" t="t" l="l"/>
            <a:pathLst>
              <a:path h="3271632" w="2024322">
                <a:moveTo>
                  <a:pt x="0" y="0"/>
                </a:moveTo>
                <a:lnTo>
                  <a:pt x="2024322" y="0"/>
                </a:lnTo>
                <a:lnTo>
                  <a:pt x="2024322" y="3271632"/>
                </a:lnTo>
                <a:lnTo>
                  <a:pt x="0" y="32716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99280" y="6482124"/>
            <a:ext cx="8549747" cy="228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Desarrollar una aplicación móvil basada en pictogramas que permita organizar y anticipar rutinas de forma visual, facilitando la comprensión y reduciendo la ansiedad en los niños en su vida escolar y cotidiana.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46451" y="1204908"/>
            <a:ext cx="3332118" cy="94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9"/>
              </a:lnSpc>
              <a:spcBef>
                <a:spcPct val="0"/>
              </a:spcBef>
            </a:pPr>
            <a:r>
              <a:rPr lang="en-US" b="true" sz="52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45956" y="5032167"/>
            <a:ext cx="4303509" cy="94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79"/>
              </a:lnSpc>
              <a:spcBef>
                <a:spcPct val="0"/>
              </a:spcBef>
            </a:pPr>
            <a:r>
              <a:rPr lang="en-US" b="true" sz="527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Solución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094435" y="3223842"/>
            <a:ext cx="2635126" cy="3363812"/>
          </a:xfrm>
          <a:custGeom>
            <a:avLst/>
            <a:gdLst/>
            <a:ahLst/>
            <a:cxnLst/>
            <a:rect r="r" b="b" t="t" l="l"/>
            <a:pathLst>
              <a:path h="3363812" w="2635126">
                <a:moveTo>
                  <a:pt x="0" y="0"/>
                </a:moveTo>
                <a:lnTo>
                  <a:pt x="2635127" y="0"/>
                </a:lnTo>
                <a:lnTo>
                  <a:pt x="2635127" y="3363812"/>
                </a:lnTo>
                <a:lnTo>
                  <a:pt x="0" y="33638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412" t="0" r="-1324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52450" y="1995627"/>
            <a:ext cx="21069300" cy="3026326"/>
            <a:chOff x="0" y="0"/>
            <a:chExt cx="5549116" cy="7970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49116" cy="797057"/>
            </a:xfrm>
            <a:custGeom>
              <a:avLst/>
              <a:gdLst/>
              <a:ahLst/>
              <a:cxnLst/>
              <a:rect r="r" b="b" t="t" l="l"/>
              <a:pathLst>
                <a:path h="797057" w="5549116">
                  <a:moveTo>
                    <a:pt x="0" y="0"/>
                  </a:moveTo>
                  <a:lnTo>
                    <a:pt x="5549116" y="0"/>
                  </a:lnTo>
                  <a:lnTo>
                    <a:pt x="5549116" y="797057"/>
                  </a:lnTo>
                  <a:lnTo>
                    <a:pt x="0" y="797057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549116" cy="835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5460" y="6203692"/>
            <a:ext cx="5495999" cy="2784359"/>
            <a:chOff x="0" y="0"/>
            <a:chExt cx="1315329" cy="6663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5329" cy="666366"/>
            </a:xfrm>
            <a:custGeom>
              <a:avLst/>
              <a:gdLst/>
              <a:ahLst/>
              <a:cxnLst/>
              <a:rect r="r" b="b" t="t" l="l"/>
              <a:pathLst>
                <a:path h="666366" w="1315329">
                  <a:moveTo>
                    <a:pt x="0" y="0"/>
                  </a:moveTo>
                  <a:lnTo>
                    <a:pt x="1315329" y="0"/>
                  </a:lnTo>
                  <a:lnTo>
                    <a:pt x="1315329" y="666366"/>
                  </a:lnTo>
                  <a:lnTo>
                    <a:pt x="0" y="66636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15329" cy="704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03553" y="6203692"/>
            <a:ext cx="5495999" cy="2784359"/>
            <a:chOff x="0" y="0"/>
            <a:chExt cx="1315329" cy="6663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5329" cy="666366"/>
            </a:xfrm>
            <a:custGeom>
              <a:avLst/>
              <a:gdLst/>
              <a:ahLst/>
              <a:cxnLst/>
              <a:rect r="r" b="b" t="t" l="l"/>
              <a:pathLst>
                <a:path h="666366" w="1315329">
                  <a:moveTo>
                    <a:pt x="0" y="0"/>
                  </a:moveTo>
                  <a:lnTo>
                    <a:pt x="1315329" y="0"/>
                  </a:lnTo>
                  <a:lnTo>
                    <a:pt x="1315329" y="666366"/>
                  </a:lnTo>
                  <a:lnTo>
                    <a:pt x="0" y="66636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15329" cy="704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28482" y="6203692"/>
            <a:ext cx="5495999" cy="2784359"/>
            <a:chOff x="0" y="0"/>
            <a:chExt cx="1315329" cy="6663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5329" cy="666366"/>
            </a:xfrm>
            <a:custGeom>
              <a:avLst/>
              <a:gdLst/>
              <a:ahLst/>
              <a:cxnLst/>
              <a:rect r="r" b="b" t="t" l="l"/>
              <a:pathLst>
                <a:path h="666366" w="1315329">
                  <a:moveTo>
                    <a:pt x="0" y="0"/>
                  </a:moveTo>
                  <a:lnTo>
                    <a:pt x="1315329" y="0"/>
                  </a:lnTo>
                  <a:lnTo>
                    <a:pt x="1315329" y="666366"/>
                  </a:lnTo>
                  <a:lnTo>
                    <a:pt x="0" y="666366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15329" cy="704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045873" y="4645251"/>
            <a:ext cx="1183290" cy="1935853"/>
          </a:xfrm>
          <a:custGeom>
            <a:avLst/>
            <a:gdLst/>
            <a:ahLst/>
            <a:cxnLst/>
            <a:rect r="r" b="b" t="t" l="l"/>
            <a:pathLst>
              <a:path h="1935853" w="1183290">
                <a:moveTo>
                  <a:pt x="0" y="0"/>
                </a:moveTo>
                <a:lnTo>
                  <a:pt x="1183290" y="0"/>
                </a:lnTo>
                <a:lnTo>
                  <a:pt x="1183290" y="1935854"/>
                </a:lnTo>
                <a:lnTo>
                  <a:pt x="0" y="1935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059967" y="8705201"/>
            <a:ext cx="1494665" cy="1481587"/>
          </a:xfrm>
          <a:custGeom>
            <a:avLst/>
            <a:gdLst/>
            <a:ahLst/>
            <a:cxnLst/>
            <a:rect r="r" b="b" t="t" l="l"/>
            <a:pathLst>
              <a:path h="1481587" w="1494665">
                <a:moveTo>
                  <a:pt x="0" y="0"/>
                </a:moveTo>
                <a:lnTo>
                  <a:pt x="1494666" y="0"/>
                </a:lnTo>
                <a:lnTo>
                  <a:pt x="1494666" y="1481587"/>
                </a:lnTo>
                <a:lnTo>
                  <a:pt x="0" y="14815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02376" y="4837680"/>
            <a:ext cx="1115007" cy="1366012"/>
          </a:xfrm>
          <a:custGeom>
            <a:avLst/>
            <a:gdLst/>
            <a:ahLst/>
            <a:cxnLst/>
            <a:rect r="r" b="b" t="t" l="l"/>
            <a:pathLst>
              <a:path h="1366012" w="1115007">
                <a:moveTo>
                  <a:pt x="0" y="0"/>
                </a:moveTo>
                <a:lnTo>
                  <a:pt x="1115007" y="0"/>
                </a:lnTo>
                <a:lnTo>
                  <a:pt x="1115007" y="1366012"/>
                </a:lnTo>
                <a:lnTo>
                  <a:pt x="0" y="13660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72099" y="597307"/>
            <a:ext cx="713900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1"/>
              </a:lnSpc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 GENERAL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9944" y="6514430"/>
            <a:ext cx="4738439" cy="27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Reducir en un 30% las desregulaciones emocionales de los niños tras 60 días de uso continuo, validados vía reportes.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03553" y="6514430"/>
            <a:ext cx="4763195" cy="2306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Alcanzar 10 instituciones activos en un plazo de 6 meses, asegurando una retención de comunidad del 60%.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01460" y="5301620"/>
            <a:ext cx="4923289" cy="61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  <a:spcBef>
                <a:spcPct val="0"/>
              </a:spcBef>
            </a:pPr>
            <a:r>
              <a:rPr lang="en-US" b="true" sz="3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Objetivos especificos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37777" y="6514430"/>
            <a:ext cx="4772391" cy="230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Lograr que al menos 90% de los pictogramas sean cubiertas por la biblioteca nativa en los primeros 3 meses.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3044" y="2433035"/>
            <a:ext cx="18043177" cy="130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7"/>
              </a:lnSpc>
              <a:spcBef>
                <a:spcPct val="0"/>
              </a:spcBef>
            </a:pPr>
            <a:r>
              <a:rPr lang="en-US" b="true" sz="246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Desarrollar una APP Móvil con plataforma web de planificación visual basada en pictogramas que facilite la autonomía y la autorregulación de niños con Necesidades Educativas Especiales (NEE), proporcionando una herramienta de gestión colaborativa entre familias y equipos multidisciplinarios.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5460" y="1556804"/>
            <a:ext cx="9538208" cy="3196543"/>
            <a:chOff x="0" y="0"/>
            <a:chExt cx="2304219" cy="77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4219" cy="772214"/>
            </a:xfrm>
            <a:custGeom>
              <a:avLst/>
              <a:gdLst/>
              <a:ahLst/>
              <a:cxnLst/>
              <a:rect r="r" b="b" t="t" l="l"/>
              <a:pathLst>
                <a:path h="772214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772214"/>
                  </a:lnTo>
                  <a:lnTo>
                    <a:pt x="0" y="77221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04219" cy="810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6677" y="6197371"/>
            <a:ext cx="9538208" cy="2832397"/>
            <a:chOff x="0" y="0"/>
            <a:chExt cx="2304219" cy="6842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4219" cy="684244"/>
            </a:xfrm>
            <a:custGeom>
              <a:avLst/>
              <a:gdLst/>
              <a:ahLst/>
              <a:cxnLst/>
              <a:rect r="r" b="b" t="t" l="l"/>
              <a:pathLst>
                <a:path h="684244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684244"/>
                  </a:lnTo>
                  <a:lnTo>
                    <a:pt x="0" y="68424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41000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304219" cy="7223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8946" y="815122"/>
            <a:ext cx="546407" cy="345440"/>
            <a:chOff x="0" y="0"/>
            <a:chExt cx="143910" cy="90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910" cy="90980"/>
            </a:xfrm>
            <a:custGeom>
              <a:avLst/>
              <a:gdLst/>
              <a:ahLst/>
              <a:cxnLst/>
              <a:rect r="r" b="b" t="t" l="l"/>
              <a:pathLst>
                <a:path h="90980" w="143910">
                  <a:moveTo>
                    <a:pt x="0" y="0"/>
                  </a:moveTo>
                  <a:lnTo>
                    <a:pt x="143910" y="0"/>
                  </a:lnTo>
                  <a:lnTo>
                    <a:pt x="14391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143910" cy="205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8078" y="5260057"/>
            <a:ext cx="530864" cy="345440"/>
            <a:chOff x="0" y="0"/>
            <a:chExt cx="139816" cy="909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816" cy="90980"/>
            </a:xfrm>
            <a:custGeom>
              <a:avLst/>
              <a:gdLst/>
              <a:ahLst/>
              <a:cxnLst/>
              <a:rect r="r" b="b" t="t" l="l"/>
              <a:pathLst>
                <a:path h="90980" w="139816">
                  <a:moveTo>
                    <a:pt x="0" y="0"/>
                  </a:moveTo>
                  <a:lnTo>
                    <a:pt x="139816" y="0"/>
                  </a:lnTo>
                  <a:lnTo>
                    <a:pt x="139816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139816" cy="205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07183" y="261550"/>
            <a:ext cx="1133329" cy="1133329"/>
          </a:xfrm>
          <a:custGeom>
            <a:avLst/>
            <a:gdLst/>
            <a:ahLst/>
            <a:cxnLst/>
            <a:rect r="r" b="b" t="t" l="l"/>
            <a:pathLst>
              <a:path h="1133329" w="1133329">
                <a:moveTo>
                  <a:pt x="0" y="0"/>
                </a:moveTo>
                <a:lnTo>
                  <a:pt x="1133329" y="0"/>
                </a:lnTo>
                <a:lnTo>
                  <a:pt x="1133329" y="1133329"/>
                </a:lnTo>
                <a:lnTo>
                  <a:pt x="0" y="11333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355023" y="4753348"/>
            <a:ext cx="1412990" cy="1404159"/>
          </a:xfrm>
          <a:custGeom>
            <a:avLst/>
            <a:gdLst/>
            <a:ahLst/>
            <a:cxnLst/>
            <a:rect r="r" b="b" t="t" l="l"/>
            <a:pathLst>
              <a:path h="1404159" w="1412990">
                <a:moveTo>
                  <a:pt x="0" y="0"/>
                </a:moveTo>
                <a:lnTo>
                  <a:pt x="1412990" y="0"/>
                </a:lnTo>
                <a:lnTo>
                  <a:pt x="1412990" y="1404159"/>
                </a:lnTo>
                <a:lnTo>
                  <a:pt x="0" y="1404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85225" y="1539722"/>
            <a:ext cx="17010239" cy="319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Desarrollo de una aplicación móvil con plataforma web, permitiendo acceso multiplataforma al sistema.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Implementación de gestión de rutinas mediante pictogramas, incluyendo creación, edición y eliminación de actividades.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Diseño de visualización diaria y semanal de actividades para una mejor organización del usuario.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Incorporación de alertas de anticipación configurables para apoyar la planificación y reducción de olvidos.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Integración de un sistema de recompensas y seguimiento del progreso del usuario.</a:t>
            </a:r>
          </a:p>
          <a:p>
            <a:pPr algn="l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Implementación de una base de datos centralizada para el almacenamiento de usuarios, rutinas y actividades.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6441" y="6130696"/>
            <a:ext cx="16934883" cy="251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 datos de los usuarios se utilizan exclusivamente para almacenamiento y análisis interno del sistema.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sistema no incorpora funcionalidades de inteligencia artificial en esta versión.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existe integración con plataformas externas, como calendarios o sistemas de gestión educativa.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biblioteca de pictogramas está limitada a un conjunto de recursos predefinidos.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sistema está diseñado inicialmente para su uso exclusivo en dispositivos móviles.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7758" y="614358"/>
            <a:ext cx="3332118" cy="94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9"/>
              </a:lnSpc>
              <a:spcBef>
                <a:spcPct val="0"/>
              </a:spcBef>
            </a:pPr>
            <a:r>
              <a:rPr lang="en-US" b="true" sz="52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Alcances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8479" y="5092999"/>
            <a:ext cx="4303509" cy="94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79"/>
              </a:lnSpc>
              <a:spcBef>
                <a:spcPct val="0"/>
              </a:spcBef>
            </a:pPr>
            <a:r>
              <a:rPr lang="en-US" b="true" sz="52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Limitaciones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97263"/>
            <a:ext cx="16383226" cy="360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 utilizará una metodología ágil basada en Kanban, permitiendo gestionar el desarrollo de la aplicación de manera continua mediante la visualización del flujo de trabajo.</a:t>
            </a:r>
          </a:p>
          <a:p>
            <a:pPr algn="ctr">
              <a:lnSpc>
                <a:spcPts val="4059"/>
              </a:lnSpc>
            </a:pPr>
            <a:r>
              <a:rPr lang="en-US" b="true" sz="28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Las tareas se organizan en un tablero Kanban, distribuidas en columnas como pendientes, en proceso y finalizadas, lo que facilitará el seguimiento del progreso y la identificación de cuellos de botella.</a:t>
            </a:r>
          </a:p>
          <a:p>
            <a:pPr algn="ctr">
              <a:lnSpc>
                <a:spcPts val="405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634006" y="6763217"/>
            <a:ext cx="3019987" cy="3019987"/>
          </a:xfrm>
          <a:custGeom>
            <a:avLst/>
            <a:gdLst/>
            <a:ahLst/>
            <a:cxnLst/>
            <a:rect r="r" b="b" t="t" l="l"/>
            <a:pathLst>
              <a:path h="3019987" w="3019987">
                <a:moveTo>
                  <a:pt x="0" y="0"/>
                </a:moveTo>
                <a:lnTo>
                  <a:pt x="3019988" y="0"/>
                </a:lnTo>
                <a:lnTo>
                  <a:pt x="3019988" y="3019988"/>
                </a:lnTo>
                <a:lnTo>
                  <a:pt x="0" y="30199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8242" y="7616671"/>
            <a:ext cx="4102864" cy="1092388"/>
          </a:xfrm>
          <a:custGeom>
            <a:avLst/>
            <a:gdLst/>
            <a:ahLst/>
            <a:cxnLst/>
            <a:rect r="r" b="b" t="t" l="l"/>
            <a:pathLst>
              <a:path h="1092388" w="4102864">
                <a:moveTo>
                  <a:pt x="0" y="0"/>
                </a:moveTo>
                <a:lnTo>
                  <a:pt x="4102865" y="0"/>
                </a:lnTo>
                <a:lnTo>
                  <a:pt x="4102865" y="1092387"/>
                </a:lnTo>
                <a:lnTo>
                  <a:pt x="0" y="1092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49972" y="6763217"/>
            <a:ext cx="1973869" cy="2647873"/>
          </a:xfrm>
          <a:custGeom>
            <a:avLst/>
            <a:gdLst/>
            <a:ahLst/>
            <a:cxnLst/>
            <a:rect r="r" b="b" t="t" l="l"/>
            <a:pathLst>
              <a:path h="2647873" w="1973869">
                <a:moveTo>
                  <a:pt x="0" y="0"/>
                </a:moveTo>
                <a:lnTo>
                  <a:pt x="1973868" y="0"/>
                </a:lnTo>
                <a:lnTo>
                  <a:pt x="1973868" y="2647873"/>
                </a:lnTo>
                <a:lnTo>
                  <a:pt x="0" y="26478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11332" y="2045780"/>
            <a:ext cx="6424671" cy="51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59"/>
              </a:lnSpc>
              <a:spcBef>
                <a:spcPct val="0"/>
              </a:spcBef>
            </a:pPr>
            <a:r>
              <a:rPr lang="en-US" b="true" sz="2899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Hibrida agil con kanban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71" t="0" r="-26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0639" y="603327"/>
            <a:ext cx="5970670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METODOLOGÍA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175080" y="1440228"/>
          <a:ext cx="18046136" cy="8239125"/>
        </p:xfrm>
        <a:graphic>
          <a:graphicData uri="http://schemas.openxmlformats.org/presentationml/2006/ole">
            <p:oleObj imgW="21653500" imgH="118491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294455" y="9258300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0723" y="9410632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4249" y="236268"/>
            <a:ext cx="12209427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7200" spc="215" b="true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Cronograma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1" t="0" r="-261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060974" y="1866770"/>
            <a:ext cx="7724567" cy="7905177"/>
          </a:xfrm>
          <a:custGeom>
            <a:avLst/>
            <a:gdLst/>
            <a:ahLst/>
            <a:cxnLst/>
            <a:rect r="r" b="b" t="t" l="l"/>
            <a:pathLst>
              <a:path h="7905177" w="7724567">
                <a:moveTo>
                  <a:pt x="0" y="0"/>
                </a:moveTo>
                <a:lnTo>
                  <a:pt x="7724567" y="0"/>
                </a:lnTo>
                <a:lnTo>
                  <a:pt x="7724567" y="7905177"/>
                </a:lnTo>
                <a:lnTo>
                  <a:pt x="0" y="7905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724004"/>
            <a:ext cx="11756892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ARQUITECTURA DEL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480756" y="1441671"/>
            <a:ext cx="12527922" cy="8845329"/>
          </a:xfrm>
          <a:custGeom>
            <a:avLst/>
            <a:gdLst/>
            <a:ahLst/>
            <a:cxnLst/>
            <a:rect r="r" b="b" t="t" l="l"/>
            <a:pathLst>
              <a:path h="8845329" w="12527922">
                <a:moveTo>
                  <a:pt x="0" y="0"/>
                </a:moveTo>
                <a:lnTo>
                  <a:pt x="12527922" y="0"/>
                </a:lnTo>
                <a:lnTo>
                  <a:pt x="12527922" y="8845329"/>
                </a:lnTo>
                <a:lnTo>
                  <a:pt x="0" y="8845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5460" y="490722"/>
            <a:ext cx="6822281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MODELO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207549" y="1672115"/>
            <a:ext cx="4461766" cy="5143695"/>
          </a:xfrm>
          <a:custGeom>
            <a:avLst/>
            <a:gdLst/>
            <a:ahLst/>
            <a:cxnLst/>
            <a:rect r="r" b="b" t="t" l="l"/>
            <a:pathLst>
              <a:path h="5143695" w="4461766">
                <a:moveTo>
                  <a:pt x="0" y="0"/>
                </a:moveTo>
                <a:lnTo>
                  <a:pt x="4461766" y="0"/>
                </a:lnTo>
                <a:lnTo>
                  <a:pt x="4461766" y="5143695"/>
                </a:lnTo>
                <a:lnTo>
                  <a:pt x="0" y="5143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15211" y="1672115"/>
            <a:ext cx="5506231" cy="4984089"/>
          </a:xfrm>
          <a:custGeom>
            <a:avLst/>
            <a:gdLst/>
            <a:ahLst/>
            <a:cxnLst/>
            <a:rect r="r" b="b" t="t" l="l"/>
            <a:pathLst>
              <a:path h="4984089" w="5506231">
                <a:moveTo>
                  <a:pt x="0" y="0"/>
                </a:moveTo>
                <a:lnTo>
                  <a:pt x="5506231" y="0"/>
                </a:lnTo>
                <a:lnTo>
                  <a:pt x="5506231" y="4984088"/>
                </a:lnTo>
                <a:lnTo>
                  <a:pt x="0" y="49840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64347" y="6496339"/>
            <a:ext cx="4008972" cy="3790661"/>
          </a:xfrm>
          <a:custGeom>
            <a:avLst/>
            <a:gdLst/>
            <a:ahLst/>
            <a:cxnLst/>
            <a:rect r="r" b="b" t="t" l="l"/>
            <a:pathLst>
              <a:path h="3790661" w="4008972">
                <a:moveTo>
                  <a:pt x="0" y="0"/>
                </a:moveTo>
                <a:lnTo>
                  <a:pt x="4008972" y="0"/>
                </a:lnTo>
                <a:lnTo>
                  <a:pt x="4008972" y="3790661"/>
                </a:lnTo>
                <a:lnTo>
                  <a:pt x="0" y="37906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5460" y="490722"/>
            <a:ext cx="6822281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MODELO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1728" y="9182100"/>
            <a:ext cx="724851" cy="45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graphicFrame>
        <p:nvGraphicFramePr>
          <p:cNvPr name="Object 7" id="7"/>
          <p:cNvGraphicFramePr/>
          <p:nvPr/>
        </p:nvGraphicFramePr>
        <p:xfrm>
          <a:off x="241635" y="1896356"/>
          <a:ext cx="17964703" cy="7967927"/>
        </p:xfrm>
        <a:graphic>
          <a:graphicData uri="http://schemas.openxmlformats.org/presentationml/2006/ole">
            <p:oleObj imgW="21551900" imgH="11557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0" y="629578"/>
            <a:ext cx="1015401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CNO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GÍAS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UTILIZA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483978" y="2378280"/>
            <a:ext cx="3868509" cy="3766960"/>
          </a:xfrm>
          <a:custGeom>
            <a:avLst/>
            <a:gdLst/>
            <a:ahLst/>
            <a:cxnLst/>
            <a:rect r="r" b="b" t="t" l="l"/>
            <a:pathLst>
              <a:path h="3766960" w="3868509">
                <a:moveTo>
                  <a:pt x="0" y="0"/>
                </a:moveTo>
                <a:lnTo>
                  <a:pt x="3868509" y="0"/>
                </a:lnTo>
                <a:lnTo>
                  <a:pt x="3868509" y="3766960"/>
                </a:lnTo>
                <a:lnTo>
                  <a:pt x="0" y="3766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4036" y="629578"/>
            <a:ext cx="885455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RESULTADOS OBTENIDOS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1538" y="3023424"/>
            <a:ext cx="16251531" cy="46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38"/>
              </a:lnSpc>
              <a:spcBef>
                <a:spcPct val="0"/>
              </a:spcBef>
            </a:pPr>
            <a:r>
              <a:rPr lang="en-US" b="true" sz="30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Digi</a:t>
            </a:r>
            <a:r>
              <a:rPr lang="en-US" b="true" sz="30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talización completa de la gestión de rutinas y actividades.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Plataf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orma 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 y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móvil operativa y funcional.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Centralización y acceso en tiempo real a la informa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ción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Au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tomatización del seguimiento y control de actividades.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Mejora en la organización y planificación diaria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Implementación de alertas, pictograma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</a:t>
            </a: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sistema de recompensas.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  <a:r>
              <a:rPr lang="en-US" b="true" sz="2927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✅ Arquitectura escalable preparada para futuras versiones.</a:t>
            </a:r>
          </a:p>
          <a:p>
            <a:pPr algn="just">
              <a:lnSpc>
                <a:spcPts val="4098"/>
              </a:lnSpc>
              <a:spcBef>
                <a:spcPct val="0"/>
              </a:spcBef>
            </a:pPr>
          </a:p>
          <a:p>
            <a:pPr algn="just">
              <a:lnSpc>
                <a:spcPts val="40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09535" y="3494452"/>
            <a:ext cx="17778465" cy="361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4"/>
              </a:lnSpc>
            </a:pPr>
            <a:r>
              <a:rPr lang="en-US" b="true" sz="341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Optim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iza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ón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la base de datos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mo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elo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da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ntegración entre plataforma mó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vil,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y backend.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Aju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 en la gestión de rutinas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actividades.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mplementación del sistema de alertas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oras 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 u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ili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e interfaz de usuario</a:t>
            </a: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  <a:p>
            <a:pPr algn="l">
              <a:lnSpc>
                <a:spcPts val="4774"/>
              </a:lnSpc>
            </a:pPr>
            <a:r>
              <a:rPr lang="en-US" b="true" sz="3410" strike="noStrike" u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⚠ Cambio en la estrategia de despliegue y distribución de la aplicación.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541156" y="1500188"/>
            <a:ext cx="1244384" cy="1565263"/>
          </a:xfrm>
          <a:custGeom>
            <a:avLst/>
            <a:gdLst/>
            <a:ahLst/>
            <a:cxnLst/>
            <a:rect r="r" b="b" t="t" l="l"/>
            <a:pathLst>
              <a:path h="1565263" w="1244384">
                <a:moveTo>
                  <a:pt x="0" y="0"/>
                </a:moveTo>
                <a:lnTo>
                  <a:pt x="1244385" y="0"/>
                </a:lnTo>
                <a:lnTo>
                  <a:pt x="1244385" y="1565263"/>
                </a:lnTo>
                <a:lnTo>
                  <a:pt x="0" y="1565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488" y="620975"/>
            <a:ext cx="13730692" cy="166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25"/>
              </a:lnSpc>
              <a:spcBef>
                <a:spcPct val="0"/>
              </a:spcBef>
            </a:pPr>
            <a:r>
              <a:rPr lang="en-US" sz="68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TÁC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UL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OS PRESEN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TADOS 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DURAN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EL 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ESARR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  <a:r>
              <a:rPr lang="en-US" sz="68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728" y="9182100"/>
            <a:ext cx="724851" cy="45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773109" y="3265126"/>
            <a:ext cx="4741782" cy="4599529"/>
          </a:xfrm>
          <a:custGeom>
            <a:avLst/>
            <a:gdLst/>
            <a:ahLst/>
            <a:cxnLst/>
            <a:rect r="r" b="b" t="t" l="l"/>
            <a:pathLst>
              <a:path h="4599529" w="4741782">
                <a:moveTo>
                  <a:pt x="0" y="0"/>
                </a:moveTo>
                <a:lnTo>
                  <a:pt x="4741782" y="0"/>
                </a:lnTo>
                <a:lnTo>
                  <a:pt x="4741782" y="4599529"/>
                </a:lnTo>
                <a:lnTo>
                  <a:pt x="0" y="459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629578"/>
            <a:ext cx="725927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DEMOSTRACIÓN</a:t>
            </a:r>
            <a:r>
              <a:rPr lang="en-US" sz="8001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80867" y="2672963"/>
            <a:ext cx="4686721" cy="5200245"/>
          </a:xfrm>
          <a:custGeom>
            <a:avLst/>
            <a:gdLst/>
            <a:ahLst/>
            <a:cxnLst/>
            <a:rect r="r" b="b" t="t" l="l"/>
            <a:pathLst>
              <a:path h="5200245" w="4686721">
                <a:moveTo>
                  <a:pt x="0" y="0"/>
                </a:moveTo>
                <a:lnTo>
                  <a:pt x="4686721" y="0"/>
                </a:lnTo>
                <a:lnTo>
                  <a:pt x="4686721" y="5200245"/>
                </a:lnTo>
                <a:lnTo>
                  <a:pt x="0" y="5200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629578"/>
            <a:ext cx="7259279" cy="1007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b="true" sz="247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5" t="-11296" r="-799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85541" y="0"/>
            <a:ext cx="5502459" cy="1779688"/>
          </a:xfrm>
          <a:custGeom>
            <a:avLst/>
            <a:gdLst/>
            <a:ahLst/>
            <a:cxnLst/>
            <a:rect r="r" b="b" t="t" l="l"/>
            <a:pathLst>
              <a:path h="1779688" w="5502459">
                <a:moveTo>
                  <a:pt x="0" y="0"/>
                </a:moveTo>
                <a:lnTo>
                  <a:pt x="5502459" y="0"/>
                </a:lnTo>
                <a:lnTo>
                  <a:pt x="5502459" y="1779688"/>
                </a:lnTo>
                <a:lnTo>
                  <a:pt x="0" y="1779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" t="0" r="-2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5460" y="9029768"/>
            <a:ext cx="742179" cy="742179"/>
            <a:chOff x="0" y="0"/>
            <a:chExt cx="195471" cy="1954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471" cy="195471"/>
            </a:xfrm>
            <a:custGeom>
              <a:avLst/>
              <a:gdLst/>
              <a:ahLst/>
              <a:cxnLst/>
              <a:rect r="r" b="b" t="t" l="l"/>
              <a:pathLst>
                <a:path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 rotWithShape="true">
              <a:gsLst>
                <a:gs pos="0">
                  <a:srgbClr val="006CCD">
                    <a:alpha val="100000"/>
                  </a:srgbClr>
                </a:gs>
                <a:gs pos="100000">
                  <a:srgbClr val="05002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9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444903" y="2659192"/>
            <a:ext cx="6056109" cy="5564050"/>
          </a:xfrm>
          <a:custGeom>
            <a:avLst/>
            <a:gdLst/>
            <a:ahLst/>
            <a:cxnLst/>
            <a:rect r="r" b="b" t="t" l="l"/>
            <a:pathLst>
              <a:path h="5564050" w="6056109">
                <a:moveTo>
                  <a:pt x="0" y="0"/>
                </a:moveTo>
                <a:lnTo>
                  <a:pt x="6056109" y="0"/>
                </a:lnTo>
                <a:lnTo>
                  <a:pt x="6056109" y="5564050"/>
                </a:lnTo>
                <a:lnTo>
                  <a:pt x="0" y="5564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629578"/>
            <a:ext cx="7259279" cy="10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1"/>
              </a:lnSpc>
              <a:spcBef>
                <a:spcPct val="0"/>
              </a:spcBef>
            </a:pPr>
            <a:r>
              <a:rPr lang="en-US" sz="80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PREGUNTAS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728" y="9182100"/>
            <a:ext cx="724851" cy="45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  <a:spcBef>
                <a:spcPct val="0"/>
              </a:spcBef>
            </a:pPr>
            <a:r>
              <a:rPr lang="en-US" sz="24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DAHMqrH7xoQ</dc:identifier>
  <dcterms:modified xsi:type="dcterms:W3CDTF">2011-08-01T06:04:30Z</dcterms:modified>
  <cp:revision>1</cp:revision>
  <dc:title>Anticipa</dc:title>
</cp:coreProperties>
</file>